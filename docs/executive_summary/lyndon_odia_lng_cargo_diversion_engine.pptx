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306" r:id="rId2"/>
    <p:sldId id="294" r:id="rId3"/>
    <p:sldId id="289" r:id="rId4"/>
    <p:sldId id="273" r:id="rId5"/>
    <p:sldId id="285" r:id="rId6"/>
    <p:sldId id="286" r:id="rId7"/>
    <p:sldId id="290" r:id="rId8"/>
    <p:sldId id="287" r:id="rId9"/>
    <p:sldId id="291" r:id="rId10"/>
    <p:sldId id="288" r:id="rId11"/>
    <p:sldId id="292" r:id="rId12"/>
    <p:sldId id="293" r:id="rId13"/>
    <p:sldId id="297" r:id="rId14"/>
    <p:sldId id="296" r:id="rId15"/>
    <p:sldId id="295" r:id="rId16"/>
    <p:sldId id="298" r:id="rId17"/>
    <p:sldId id="299" r:id="rId18"/>
    <p:sldId id="300" r:id="rId19"/>
    <p:sldId id="301" r:id="rId20"/>
    <p:sldId id="304" r:id="rId21"/>
    <p:sldId id="30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C9A445-A2CB-F946-8244-A5A47A8039C3}">
          <p14:sldIdLst>
            <p14:sldId id="306"/>
            <p14:sldId id="294"/>
            <p14:sldId id="289"/>
            <p14:sldId id="273"/>
            <p14:sldId id="285"/>
            <p14:sldId id="286"/>
            <p14:sldId id="290"/>
            <p14:sldId id="287"/>
            <p14:sldId id="291"/>
            <p14:sldId id="288"/>
            <p14:sldId id="292"/>
            <p14:sldId id="293"/>
            <p14:sldId id="297"/>
            <p14:sldId id="296"/>
            <p14:sldId id="295"/>
            <p14:sldId id="298"/>
            <p14:sldId id="299"/>
            <p14:sldId id="300"/>
            <p14:sldId id="301"/>
            <p14:sldId id="304"/>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6464"/>
    <a:srgbClr val="084F6A"/>
    <a:srgbClr val="AACDDA"/>
    <a:srgbClr val="A1C2CE"/>
    <a:srgbClr val="9BD4EF"/>
    <a:srgbClr val="0E28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AB653E-F4EA-6D4D-BB99-7B4697B42165}" v="26" dt="2026-03-07T21:52:01.404"/>
    <p1510:client id="{51FAC541-BE90-444A-A0D5-0DBC241FA338}" v="134" dt="2026-03-07T21:25:41.826"/>
    <p1510:client id="{6A2827B0-CF24-6F4B-BC1F-BBE830C37773}" v="218" dt="2026-03-07T20:57:03.633"/>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49"/>
    <p:restoredTop sz="75221"/>
  </p:normalViewPr>
  <p:slideViewPr>
    <p:cSldViewPr snapToGrid="0">
      <p:cViewPr varScale="1">
        <p:scale>
          <a:sx n="118" d="100"/>
          <a:sy n="118" d="100"/>
        </p:scale>
        <p:origin x="272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ia, Lyndon E SITILTD-PTIY/ED/NC" userId="20d8a4cf-39ee-4a91-84a0-085d6e913a6f" providerId="ADAL" clId="{2FAB653E-F4EA-6D4D-BB99-7B4697B42165}"/>
    <pc:docChg chg="undo custSel modSld">
      <pc:chgData name="Odia, Lyndon E SITILTD-PTIY/ED/NC" userId="20d8a4cf-39ee-4a91-84a0-085d6e913a6f" providerId="ADAL" clId="{2FAB653E-F4EA-6D4D-BB99-7B4697B42165}" dt="2026-03-07T21:51:44.721" v="286" actId="20577"/>
      <pc:docMkLst>
        <pc:docMk/>
      </pc:docMkLst>
      <pc:sldChg chg="modNotesTx">
        <pc:chgData name="Odia, Lyndon E SITILTD-PTIY/ED/NC" userId="20d8a4cf-39ee-4a91-84a0-085d6e913a6f" providerId="ADAL" clId="{2FAB653E-F4EA-6D4D-BB99-7B4697B42165}" dt="2026-03-07T21:44:21.720" v="265" actId="20577"/>
        <pc:sldMkLst>
          <pc:docMk/>
          <pc:sldMk cId="3066477416" sldId="273"/>
        </pc:sldMkLst>
      </pc:sldChg>
      <pc:sldChg chg="modNotesTx">
        <pc:chgData name="Odia, Lyndon E SITILTD-PTIY/ED/NC" userId="20d8a4cf-39ee-4a91-84a0-085d6e913a6f" providerId="ADAL" clId="{2FAB653E-F4EA-6D4D-BB99-7B4697B42165}" dt="2026-03-07T21:45:49.616" v="282" actId="20577"/>
        <pc:sldMkLst>
          <pc:docMk/>
          <pc:sldMk cId="2884142728" sldId="285"/>
        </pc:sldMkLst>
      </pc:sldChg>
      <pc:sldChg chg="modSp mod">
        <pc:chgData name="Odia, Lyndon E SITILTD-PTIY/ED/NC" userId="20d8a4cf-39ee-4a91-84a0-085d6e913a6f" providerId="ADAL" clId="{2FAB653E-F4EA-6D4D-BB99-7B4697B42165}" dt="2026-03-07T21:34:59.135" v="66" actId="20577"/>
        <pc:sldMkLst>
          <pc:docMk/>
          <pc:sldMk cId="2366228688" sldId="288"/>
        </pc:sldMkLst>
        <pc:spChg chg="mod">
          <ac:chgData name="Odia, Lyndon E SITILTD-PTIY/ED/NC" userId="20d8a4cf-39ee-4a91-84a0-085d6e913a6f" providerId="ADAL" clId="{2FAB653E-F4EA-6D4D-BB99-7B4697B42165}" dt="2026-03-07T21:34:59.135" v="66" actId="20577"/>
          <ac:spMkLst>
            <pc:docMk/>
            <pc:sldMk cId="2366228688" sldId="288"/>
            <ac:spMk id="12" creationId="{3EE8A940-F590-4C11-BC6A-4BA33F856171}"/>
          </ac:spMkLst>
        </pc:spChg>
      </pc:sldChg>
      <pc:sldChg chg="modSp mod">
        <pc:chgData name="Odia, Lyndon E SITILTD-PTIY/ED/NC" userId="20d8a4cf-39ee-4a91-84a0-085d6e913a6f" providerId="ADAL" clId="{2FAB653E-F4EA-6D4D-BB99-7B4697B42165}" dt="2026-03-07T21:35:42.334" v="93" actId="1076"/>
        <pc:sldMkLst>
          <pc:docMk/>
          <pc:sldMk cId="4095346216" sldId="292"/>
        </pc:sldMkLst>
        <pc:spChg chg="mod">
          <ac:chgData name="Odia, Lyndon E SITILTD-PTIY/ED/NC" userId="20d8a4cf-39ee-4a91-84a0-085d6e913a6f" providerId="ADAL" clId="{2FAB653E-F4EA-6D4D-BB99-7B4697B42165}" dt="2026-03-07T21:35:42.334" v="93" actId="1076"/>
          <ac:spMkLst>
            <pc:docMk/>
            <pc:sldMk cId="4095346216" sldId="292"/>
            <ac:spMk id="11" creationId="{83A7198C-0518-843F-9D37-AF7F8A4435A8}"/>
          </ac:spMkLst>
        </pc:spChg>
      </pc:sldChg>
      <pc:sldChg chg="modNotesTx">
        <pc:chgData name="Odia, Lyndon E SITILTD-PTIY/ED/NC" userId="20d8a4cf-39ee-4a91-84a0-085d6e913a6f" providerId="ADAL" clId="{2FAB653E-F4EA-6D4D-BB99-7B4697B42165}" dt="2026-03-07T21:49:15.228" v="285" actId="20577"/>
        <pc:sldMkLst>
          <pc:docMk/>
          <pc:sldMk cId="465687251" sldId="293"/>
        </pc:sldMkLst>
      </pc:sldChg>
      <pc:sldChg chg="modSp">
        <pc:chgData name="Odia, Lyndon E SITILTD-PTIY/ED/NC" userId="20d8a4cf-39ee-4a91-84a0-085d6e913a6f" providerId="ADAL" clId="{2FAB653E-F4EA-6D4D-BB99-7B4697B42165}" dt="2026-03-07T21:35:49.328" v="107" actId="20577"/>
        <pc:sldMkLst>
          <pc:docMk/>
          <pc:sldMk cId="1308783189" sldId="294"/>
        </pc:sldMkLst>
        <pc:graphicFrameChg chg="mod">
          <ac:chgData name="Odia, Lyndon E SITILTD-PTIY/ED/NC" userId="20d8a4cf-39ee-4a91-84a0-085d6e913a6f" providerId="ADAL" clId="{2FAB653E-F4EA-6D4D-BB99-7B4697B42165}" dt="2026-03-07T21:35:49.328" v="107" actId="20577"/>
          <ac:graphicFrameMkLst>
            <pc:docMk/>
            <pc:sldMk cId="1308783189" sldId="294"/>
            <ac:graphicFrameMk id="9" creationId="{FC6B96D1-E521-AEFE-E0FE-80038CDF3D0E}"/>
          </ac:graphicFrameMkLst>
        </pc:graphicFrameChg>
      </pc:sldChg>
      <pc:sldChg chg="modSp mod">
        <pc:chgData name="Odia, Lyndon E SITILTD-PTIY/ED/NC" userId="20d8a4cf-39ee-4a91-84a0-085d6e913a6f" providerId="ADAL" clId="{2FAB653E-F4EA-6D4D-BB99-7B4697B42165}" dt="2026-03-07T21:36:54.204" v="213" actId="1076"/>
        <pc:sldMkLst>
          <pc:docMk/>
          <pc:sldMk cId="3560822381" sldId="299"/>
        </pc:sldMkLst>
        <pc:spChg chg="mod">
          <ac:chgData name="Odia, Lyndon E SITILTD-PTIY/ED/NC" userId="20d8a4cf-39ee-4a91-84a0-085d6e913a6f" providerId="ADAL" clId="{2FAB653E-F4EA-6D4D-BB99-7B4697B42165}" dt="2026-03-07T21:36:54.204" v="213" actId="1076"/>
          <ac:spMkLst>
            <pc:docMk/>
            <pc:sldMk cId="3560822381" sldId="299"/>
            <ac:spMk id="6" creationId="{8D6263F7-3463-24EB-3A65-036FEBC3D8E1}"/>
          </ac:spMkLst>
        </pc:spChg>
      </pc:sldChg>
      <pc:sldChg chg="modSp mod modNotesTx">
        <pc:chgData name="Odia, Lyndon E SITILTD-PTIY/ED/NC" userId="20d8a4cf-39ee-4a91-84a0-085d6e913a6f" providerId="ADAL" clId="{2FAB653E-F4EA-6D4D-BB99-7B4697B42165}" dt="2026-03-07T21:51:44.721" v="286" actId="20577"/>
        <pc:sldMkLst>
          <pc:docMk/>
          <pc:sldMk cId="1956896514" sldId="301"/>
        </pc:sldMkLst>
        <pc:spChg chg="mod">
          <ac:chgData name="Odia, Lyndon E SITILTD-PTIY/ED/NC" userId="20d8a4cf-39ee-4a91-84a0-085d6e913a6f" providerId="ADAL" clId="{2FAB653E-F4EA-6D4D-BB99-7B4697B42165}" dt="2026-03-07T21:37:24.624" v="229" actId="14100"/>
          <ac:spMkLst>
            <pc:docMk/>
            <pc:sldMk cId="1956896514" sldId="301"/>
            <ac:spMk id="11" creationId="{5697B6FC-2E43-1F9A-8452-F6CB4E667852}"/>
          </ac:spMkLst>
        </pc:spChg>
      </pc:sldChg>
      <pc:sldChg chg="modSp mod">
        <pc:chgData name="Odia, Lyndon E SITILTD-PTIY/ED/NC" userId="20d8a4cf-39ee-4a91-84a0-085d6e913a6f" providerId="ADAL" clId="{2FAB653E-F4EA-6D4D-BB99-7B4697B42165}" dt="2026-03-07T21:37:53.535" v="257" actId="14100"/>
        <pc:sldMkLst>
          <pc:docMk/>
          <pc:sldMk cId="2359601296" sldId="302"/>
        </pc:sldMkLst>
        <pc:spChg chg="mod">
          <ac:chgData name="Odia, Lyndon E SITILTD-PTIY/ED/NC" userId="20d8a4cf-39ee-4a91-84a0-085d6e913a6f" providerId="ADAL" clId="{2FAB653E-F4EA-6D4D-BB99-7B4697B42165}" dt="2026-03-07T21:37:53.535" v="257" actId="14100"/>
          <ac:spMkLst>
            <pc:docMk/>
            <pc:sldMk cId="2359601296" sldId="302"/>
            <ac:spMk id="11" creationId="{6BC97700-BC5C-8B33-F566-800842CA115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BDDA0F-3913-4F24-87D2-5F9FD838ABB5}" type="doc">
      <dgm:prSet loTypeId="urn:microsoft.com/office/officeart/2008/layout/LinedList" loCatId="list" qsTypeId="urn:microsoft.com/office/officeart/2005/8/quickstyle/simple5" qsCatId="simple" csTypeId="urn:microsoft.com/office/officeart/2005/8/colors/accent3_2" csCatId="accent3" phldr="1"/>
      <dgm:spPr/>
      <dgm:t>
        <a:bodyPr/>
        <a:lstStyle/>
        <a:p>
          <a:endParaRPr lang="en-US"/>
        </a:p>
      </dgm:t>
    </dgm:pt>
    <dgm:pt modelId="{CA74B508-ABEF-41D8-B179-E312EBFE7658}">
      <dgm:prSet/>
      <dgm:spPr/>
      <dgm:t>
        <a:bodyPr/>
        <a:lstStyle/>
        <a:p>
          <a:r>
            <a:rPr lang="en-US" dirty="0"/>
            <a:t>1. Executive Summary</a:t>
          </a:r>
        </a:p>
      </dgm:t>
    </dgm:pt>
    <dgm:pt modelId="{2FB9EC72-BB7B-4EB7-A312-C62E12C73148}" type="parTrans" cxnId="{558A3DCB-BA6D-40C2-A04F-F4B04B927503}">
      <dgm:prSet/>
      <dgm:spPr/>
      <dgm:t>
        <a:bodyPr/>
        <a:lstStyle/>
        <a:p>
          <a:endParaRPr lang="en-US"/>
        </a:p>
      </dgm:t>
    </dgm:pt>
    <dgm:pt modelId="{3C930777-B342-41B6-A6AB-F8C03D78803B}" type="sibTrans" cxnId="{558A3DCB-BA6D-40C2-A04F-F4B04B927503}">
      <dgm:prSet/>
      <dgm:spPr/>
      <dgm:t>
        <a:bodyPr/>
        <a:lstStyle/>
        <a:p>
          <a:endParaRPr lang="en-US"/>
        </a:p>
      </dgm:t>
    </dgm:pt>
    <dgm:pt modelId="{336D7A18-4EA5-4F08-A9D8-1657F18EC4C9}">
      <dgm:prSet/>
      <dgm:spPr/>
      <dgm:t>
        <a:bodyPr/>
        <a:lstStyle/>
        <a:p>
          <a:r>
            <a:rPr lang="en-US" dirty="0"/>
            <a:t>2. Decision Framework</a:t>
          </a:r>
        </a:p>
      </dgm:t>
    </dgm:pt>
    <dgm:pt modelId="{930316B3-A830-4830-B2B2-47BD6C785482}" type="parTrans" cxnId="{F33A6765-2876-4701-87EA-1E43C9D772F6}">
      <dgm:prSet/>
      <dgm:spPr/>
      <dgm:t>
        <a:bodyPr/>
        <a:lstStyle/>
        <a:p>
          <a:endParaRPr lang="en-US"/>
        </a:p>
      </dgm:t>
    </dgm:pt>
    <dgm:pt modelId="{2BFD7AF8-577D-494B-9282-82684C5D23D4}" type="sibTrans" cxnId="{F33A6765-2876-4701-87EA-1E43C9D772F6}">
      <dgm:prSet/>
      <dgm:spPr/>
      <dgm:t>
        <a:bodyPr/>
        <a:lstStyle/>
        <a:p>
          <a:endParaRPr lang="en-US"/>
        </a:p>
      </dgm:t>
    </dgm:pt>
    <dgm:pt modelId="{4A0BB943-005B-4BC5-9267-2DD5E8C50AC9}">
      <dgm:prSet/>
      <dgm:spPr/>
      <dgm:t>
        <a:bodyPr/>
        <a:lstStyle/>
        <a:p>
          <a:r>
            <a:rPr lang="en-US" dirty="0"/>
            <a:t>3. Netback Methodology</a:t>
          </a:r>
        </a:p>
      </dgm:t>
    </dgm:pt>
    <dgm:pt modelId="{26FB3FD0-C234-4E1F-9888-5FD35CB6BA9A}" type="parTrans" cxnId="{4208F8D5-8BF5-4DDD-8023-E152DD5DB735}">
      <dgm:prSet/>
      <dgm:spPr/>
      <dgm:t>
        <a:bodyPr/>
        <a:lstStyle/>
        <a:p>
          <a:endParaRPr lang="en-US"/>
        </a:p>
      </dgm:t>
    </dgm:pt>
    <dgm:pt modelId="{689166D7-50A3-487F-B48F-BA0CBCEE1C3F}" type="sibTrans" cxnId="{4208F8D5-8BF5-4DDD-8023-E152DD5DB735}">
      <dgm:prSet/>
      <dgm:spPr/>
      <dgm:t>
        <a:bodyPr/>
        <a:lstStyle/>
        <a:p>
          <a:endParaRPr lang="en-US"/>
        </a:p>
      </dgm:t>
    </dgm:pt>
    <dgm:pt modelId="{80F71509-AB50-416C-B230-D469156AB24D}">
      <dgm:prSet/>
      <dgm:spPr/>
      <dgm:t>
        <a:bodyPr/>
        <a:lstStyle/>
        <a:p>
          <a:r>
            <a:rPr lang="en-US" dirty="0"/>
            <a:t>4. Example Diversion Decision</a:t>
          </a:r>
        </a:p>
      </dgm:t>
    </dgm:pt>
    <dgm:pt modelId="{7F1D5232-76F3-4522-A792-E18B58CDD946}" type="parTrans" cxnId="{83AB12EA-DAF1-4F3D-B862-1EE52992ACAA}">
      <dgm:prSet/>
      <dgm:spPr/>
      <dgm:t>
        <a:bodyPr/>
        <a:lstStyle/>
        <a:p>
          <a:endParaRPr lang="en-US"/>
        </a:p>
      </dgm:t>
    </dgm:pt>
    <dgm:pt modelId="{308263EC-C52C-4ACD-96A1-E90B58FD2CBE}" type="sibTrans" cxnId="{83AB12EA-DAF1-4F3D-B862-1EE52992ACAA}">
      <dgm:prSet/>
      <dgm:spPr/>
      <dgm:t>
        <a:bodyPr/>
        <a:lstStyle/>
        <a:p>
          <a:endParaRPr lang="en-US"/>
        </a:p>
      </dgm:t>
    </dgm:pt>
    <dgm:pt modelId="{F19F4A55-C61B-4AE4-AF2D-80BD2EE61BC0}">
      <dgm:prSet/>
      <dgm:spPr/>
      <dgm:t>
        <a:bodyPr/>
        <a:lstStyle/>
        <a:p>
          <a:r>
            <a:rPr lang="en-US" dirty="0"/>
            <a:t>5. Risk &amp; Stress Testing</a:t>
          </a:r>
        </a:p>
      </dgm:t>
    </dgm:pt>
    <dgm:pt modelId="{871A9E9E-F514-4A73-9035-8E7DE5E4C120}" type="parTrans" cxnId="{23D55F7A-A695-460C-B52D-ADE7BB6A031D}">
      <dgm:prSet/>
      <dgm:spPr/>
      <dgm:t>
        <a:bodyPr/>
        <a:lstStyle/>
        <a:p>
          <a:endParaRPr lang="en-US"/>
        </a:p>
      </dgm:t>
    </dgm:pt>
    <dgm:pt modelId="{320D8DC3-2EBC-4F6A-8F27-B974ED05DEE2}" type="sibTrans" cxnId="{23D55F7A-A695-460C-B52D-ADE7BB6A031D}">
      <dgm:prSet/>
      <dgm:spPr/>
      <dgm:t>
        <a:bodyPr/>
        <a:lstStyle/>
        <a:p>
          <a:endParaRPr lang="en-US"/>
        </a:p>
      </dgm:t>
    </dgm:pt>
    <dgm:pt modelId="{1B88A0DD-C537-44C1-95B9-E2F710EDACE6}">
      <dgm:prSet/>
      <dgm:spPr/>
      <dgm:t>
        <a:bodyPr/>
        <a:lstStyle/>
        <a:p>
          <a:r>
            <a:rPr lang="en-US" dirty="0"/>
            <a:t>6. Rule Behavior (Historical Validation)</a:t>
          </a:r>
        </a:p>
      </dgm:t>
    </dgm:pt>
    <dgm:pt modelId="{BD7C97EA-7661-4826-BC87-C9730CC99BF4}" type="parTrans" cxnId="{D2CA8FF1-9F88-4AB8-9767-D7F80BB5B00D}">
      <dgm:prSet/>
      <dgm:spPr/>
      <dgm:t>
        <a:bodyPr/>
        <a:lstStyle/>
        <a:p>
          <a:endParaRPr lang="en-US"/>
        </a:p>
      </dgm:t>
    </dgm:pt>
    <dgm:pt modelId="{33A10C00-E32E-42C1-984C-EE24CA2CC5A1}" type="sibTrans" cxnId="{D2CA8FF1-9F88-4AB8-9767-D7F80BB5B00D}">
      <dgm:prSet/>
      <dgm:spPr/>
      <dgm:t>
        <a:bodyPr/>
        <a:lstStyle/>
        <a:p>
          <a:endParaRPr lang="en-US"/>
        </a:p>
      </dgm:t>
    </dgm:pt>
    <dgm:pt modelId="{A8B01D77-DD1E-4123-BE97-FAEB929C4903}">
      <dgm:prSet/>
      <dgm:spPr/>
      <dgm:t>
        <a:bodyPr/>
        <a:lstStyle/>
        <a:p>
          <a:r>
            <a:rPr lang="en-US" dirty="0"/>
            <a:t>7. Decision Waterfall</a:t>
          </a:r>
        </a:p>
      </dgm:t>
    </dgm:pt>
    <dgm:pt modelId="{0E91CDCA-34C0-4183-BA8D-339138FB9FB6}" type="parTrans" cxnId="{BAF4E99E-66C3-4093-AEED-FF01A327A60D}">
      <dgm:prSet/>
      <dgm:spPr/>
      <dgm:t>
        <a:bodyPr/>
        <a:lstStyle/>
        <a:p>
          <a:endParaRPr lang="en-US"/>
        </a:p>
      </dgm:t>
    </dgm:pt>
    <dgm:pt modelId="{319151B3-5FAD-431F-A78C-6A1FE6326123}" type="sibTrans" cxnId="{BAF4E99E-66C3-4093-AEED-FF01A327A60D}">
      <dgm:prSet/>
      <dgm:spPr/>
      <dgm:t>
        <a:bodyPr/>
        <a:lstStyle/>
        <a:p>
          <a:endParaRPr lang="en-US"/>
        </a:p>
      </dgm:t>
    </dgm:pt>
    <dgm:pt modelId="{65E0D1E0-3015-417F-ABD2-C04E052DBD4B}">
      <dgm:prSet/>
      <dgm:spPr/>
      <dgm:t>
        <a:bodyPr/>
        <a:lstStyle/>
        <a:p>
          <a:r>
            <a:rPr lang="en-US" dirty="0"/>
            <a:t>8. Assumptions &amp; Next Steps</a:t>
          </a:r>
        </a:p>
      </dgm:t>
    </dgm:pt>
    <dgm:pt modelId="{DC15F533-41F2-46C3-A4D4-EF96B4462DDA}" type="parTrans" cxnId="{3F3A2953-EA03-4112-B006-628B6419EAF6}">
      <dgm:prSet/>
      <dgm:spPr/>
      <dgm:t>
        <a:bodyPr/>
        <a:lstStyle/>
        <a:p>
          <a:endParaRPr lang="en-US"/>
        </a:p>
      </dgm:t>
    </dgm:pt>
    <dgm:pt modelId="{EC1DD1CB-C137-471B-84B2-95989499C76F}" type="sibTrans" cxnId="{3F3A2953-EA03-4112-B006-628B6419EAF6}">
      <dgm:prSet/>
      <dgm:spPr/>
      <dgm:t>
        <a:bodyPr/>
        <a:lstStyle/>
        <a:p>
          <a:endParaRPr lang="en-US"/>
        </a:p>
      </dgm:t>
    </dgm:pt>
    <dgm:pt modelId="{493D083D-1A8B-D046-9769-2857E5525A97}" type="pres">
      <dgm:prSet presAssocID="{79BDDA0F-3913-4F24-87D2-5F9FD838ABB5}" presName="vert0" presStyleCnt="0">
        <dgm:presLayoutVars>
          <dgm:dir/>
          <dgm:animOne val="branch"/>
          <dgm:animLvl val="lvl"/>
        </dgm:presLayoutVars>
      </dgm:prSet>
      <dgm:spPr/>
    </dgm:pt>
    <dgm:pt modelId="{295E4C38-6525-BF46-A27E-04C35FFE64A9}" type="pres">
      <dgm:prSet presAssocID="{CA74B508-ABEF-41D8-B179-E312EBFE7658}" presName="thickLine" presStyleLbl="alignNode1" presStyleIdx="0" presStyleCnt="8"/>
      <dgm:spPr/>
    </dgm:pt>
    <dgm:pt modelId="{3E67BBC0-C802-EF42-A6E9-FAB58A41B3A0}" type="pres">
      <dgm:prSet presAssocID="{CA74B508-ABEF-41D8-B179-E312EBFE7658}" presName="horz1" presStyleCnt="0"/>
      <dgm:spPr/>
    </dgm:pt>
    <dgm:pt modelId="{8286E178-FEE8-9644-8398-75A1C205CA29}" type="pres">
      <dgm:prSet presAssocID="{CA74B508-ABEF-41D8-B179-E312EBFE7658}" presName="tx1" presStyleLbl="revTx" presStyleIdx="0" presStyleCnt="8"/>
      <dgm:spPr/>
    </dgm:pt>
    <dgm:pt modelId="{8BB9D880-762A-4A48-9A1C-2F7CCB88201E}" type="pres">
      <dgm:prSet presAssocID="{CA74B508-ABEF-41D8-B179-E312EBFE7658}" presName="vert1" presStyleCnt="0"/>
      <dgm:spPr/>
    </dgm:pt>
    <dgm:pt modelId="{3EACE14F-4D84-1A47-85EB-80B5050354B7}" type="pres">
      <dgm:prSet presAssocID="{336D7A18-4EA5-4F08-A9D8-1657F18EC4C9}" presName="thickLine" presStyleLbl="alignNode1" presStyleIdx="1" presStyleCnt="8"/>
      <dgm:spPr/>
    </dgm:pt>
    <dgm:pt modelId="{D0284A77-B361-4A40-BCF1-7079A550D28D}" type="pres">
      <dgm:prSet presAssocID="{336D7A18-4EA5-4F08-A9D8-1657F18EC4C9}" presName="horz1" presStyleCnt="0"/>
      <dgm:spPr/>
    </dgm:pt>
    <dgm:pt modelId="{4026B3D9-0EEF-8041-B1E9-280161DC8323}" type="pres">
      <dgm:prSet presAssocID="{336D7A18-4EA5-4F08-A9D8-1657F18EC4C9}" presName="tx1" presStyleLbl="revTx" presStyleIdx="1" presStyleCnt="8"/>
      <dgm:spPr/>
    </dgm:pt>
    <dgm:pt modelId="{B843DFA5-7816-CC43-9815-C6714160B26C}" type="pres">
      <dgm:prSet presAssocID="{336D7A18-4EA5-4F08-A9D8-1657F18EC4C9}" presName="vert1" presStyleCnt="0"/>
      <dgm:spPr/>
    </dgm:pt>
    <dgm:pt modelId="{4753B946-D7AC-CE4B-81A4-BDF8C24FBC18}" type="pres">
      <dgm:prSet presAssocID="{4A0BB943-005B-4BC5-9267-2DD5E8C50AC9}" presName="thickLine" presStyleLbl="alignNode1" presStyleIdx="2" presStyleCnt="8"/>
      <dgm:spPr/>
    </dgm:pt>
    <dgm:pt modelId="{DCDBE06C-D604-C642-A919-F7A4C88CE98B}" type="pres">
      <dgm:prSet presAssocID="{4A0BB943-005B-4BC5-9267-2DD5E8C50AC9}" presName="horz1" presStyleCnt="0"/>
      <dgm:spPr/>
    </dgm:pt>
    <dgm:pt modelId="{FD8FBAEB-5FC5-8243-9E44-0B787C1C371F}" type="pres">
      <dgm:prSet presAssocID="{4A0BB943-005B-4BC5-9267-2DD5E8C50AC9}" presName="tx1" presStyleLbl="revTx" presStyleIdx="2" presStyleCnt="8"/>
      <dgm:spPr/>
    </dgm:pt>
    <dgm:pt modelId="{E304FE17-2DD9-2D49-8A9A-0540FE15757F}" type="pres">
      <dgm:prSet presAssocID="{4A0BB943-005B-4BC5-9267-2DD5E8C50AC9}" presName="vert1" presStyleCnt="0"/>
      <dgm:spPr/>
    </dgm:pt>
    <dgm:pt modelId="{40D9B1E6-9D5A-B94B-8303-3D8F78D5AA52}" type="pres">
      <dgm:prSet presAssocID="{80F71509-AB50-416C-B230-D469156AB24D}" presName="thickLine" presStyleLbl="alignNode1" presStyleIdx="3" presStyleCnt="8"/>
      <dgm:spPr/>
    </dgm:pt>
    <dgm:pt modelId="{23F874DD-E57D-6649-AE69-D4725F35FE6F}" type="pres">
      <dgm:prSet presAssocID="{80F71509-AB50-416C-B230-D469156AB24D}" presName="horz1" presStyleCnt="0"/>
      <dgm:spPr/>
    </dgm:pt>
    <dgm:pt modelId="{8AB590AE-22B0-B34A-98BE-2CE0414B40A9}" type="pres">
      <dgm:prSet presAssocID="{80F71509-AB50-416C-B230-D469156AB24D}" presName="tx1" presStyleLbl="revTx" presStyleIdx="3" presStyleCnt="8"/>
      <dgm:spPr/>
    </dgm:pt>
    <dgm:pt modelId="{50084D02-8EE2-E94B-8F03-16404B9975AA}" type="pres">
      <dgm:prSet presAssocID="{80F71509-AB50-416C-B230-D469156AB24D}" presName="vert1" presStyleCnt="0"/>
      <dgm:spPr/>
    </dgm:pt>
    <dgm:pt modelId="{EE6058DF-C580-4F4E-AC6E-54A42AF41018}" type="pres">
      <dgm:prSet presAssocID="{F19F4A55-C61B-4AE4-AF2D-80BD2EE61BC0}" presName="thickLine" presStyleLbl="alignNode1" presStyleIdx="4" presStyleCnt="8"/>
      <dgm:spPr/>
    </dgm:pt>
    <dgm:pt modelId="{820A62F7-B582-CD45-A3D1-2F9D987131FD}" type="pres">
      <dgm:prSet presAssocID="{F19F4A55-C61B-4AE4-AF2D-80BD2EE61BC0}" presName="horz1" presStyleCnt="0"/>
      <dgm:spPr/>
    </dgm:pt>
    <dgm:pt modelId="{81AAEF3F-3505-3B47-8FBC-A845644C9D8F}" type="pres">
      <dgm:prSet presAssocID="{F19F4A55-C61B-4AE4-AF2D-80BD2EE61BC0}" presName="tx1" presStyleLbl="revTx" presStyleIdx="4" presStyleCnt="8"/>
      <dgm:spPr/>
    </dgm:pt>
    <dgm:pt modelId="{8674BDB2-A37C-CC41-9AB7-CE25D1A3E0FD}" type="pres">
      <dgm:prSet presAssocID="{F19F4A55-C61B-4AE4-AF2D-80BD2EE61BC0}" presName="vert1" presStyleCnt="0"/>
      <dgm:spPr/>
    </dgm:pt>
    <dgm:pt modelId="{1749C9D6-16D3-4B48-BFA9-EED5F7D87B67}" type="pres">
      <dgm:prSet presAssocID="{1B88A0DD-C537-44C1-95B9-E2F710EDACE6}" presName="thickLine" presStyleLbl="alignNode1" presStyleIdx="5" presStyleCnt="8"/>
      <dgm:spPr/>
    </dgm:pt>
    <dgm:pt modelId="{2CB82D5A-3E54-FD45-A51D-B51D36F942EA}" type="pres">
      <dgm:prSet presAssocID="{1B88A0DD-C537-44C1-95B9-E2F710EDACE6}" presName="horz1" presStyleCnt="0"/>
      <dgm:spPr/>
    </dgm:pt>
    <dgm:pt modelId="{76C0ED97-520B-994F-9DA2-272708CC888D}" type="pres">
      <dgm:prSet presAssocID="{1B88A0DD-C537-44C1-95B9-E2F710EDACE6}" presName="tx1" presStyleLbl="revTx" presStyleIdx="5" presStyleCnt="8"/>
      <dgm:spPr/>
    </dgm:pt>
    <dgm:pt modelId="{05F2A6F4-8F2F-E344-8BC0-7B805DD217E0}" type="pres">
      <dgm:prSet presAssocID="{1B88A0DD-C537-44C1-95B9-E2F710EDACE6}" presName="vert1" presStyleCnt="0"/>
      <dgm:spPr/>
    </dgm:pt>
    <dgm:pt modelId="{8185A476-052D-8C41-8D93-3FEFF4223D74}" type="pres">
      <dgm:prSet presAssocID="{A8B01D77-DD1E-4123-BE97-FAEB929C4903}" presName="thickLine" presStyleLbl="alignNode1" presStyleIdx="6" presStyleCnt="8"/>
      <dgm:spPr/>
    </dgm:pt>
    <dgm:pt modelId="{E86F50E5-07F7-0844-8C11-071779148758}" type="pres">
      <dgm:prSet presAssocID="{A8B01D77-DD1E-4123-BE97-FAEB929C4903}" presName="horz1" presStyleCnt="0"/>
      <dgm:spPr/>
    </dgm:pt>
    <dgm:pt modelId="{6468DF3A-163B-2C4F-BA7B-A0DAB970909C}" type="pres">
      <dgm:prSet presAssocID="{A8B01D77-DD1E-4123-BE97-FAEB929C4903}" presName="tx1" presStyleLbl="revTx" presStyleIdx="6" presStyleCnt="8"/>
      <dgm:spPr/>
    </dgm:pt>
    <dgm:pt modelId="{7A25FA80-4524-E744-B35F-55EDE317A126}" type="pres">
      <dgm:prSet presAssocID="{A8B01D77-DD1E-4123-BE97-FAEB929C4903}" presName="vert1" presStyleCnt="0"/>
      <dgm:spPr/>
    </dgm:pt>
    <dgm:pt modelId="{29B71951-7177-6B41-82D0-7DF8AC51265F}" type="pres">
      <dgm:prSet presAssocID="{65E0D1E0-3015-417F-ABD2-C04E052DBD4B}" presName="thickLine" presStyleLbl="alignNode1" presStyleIdx="7" presStyleCnt="8"/>
      <dgm:spPr/>
    </dgm:pt>
    <dgm:pt modelId="{9BA35032-53DE-BD49-87FD-44A16AE16DE1}" type="pres">
      <dgm:prSet presAssocID="{65E0D1E0-3015-417F-ABD2-C04E052DBD4B}" presName="horz1" presStyleCnt="0"/>
      <dgm:spPr/>
    </dgm:pt>
    <dgm:pt modelId="{F0406A8D-8919-D843-8736-3F5F5D0AD624}" type="pres">
      <dgm:prSet presAssocID="{65E0D1E0-3015-417F-ABD2-C04E052DBD4B}" presName="tx1" presStyleLbl="revTx" presStyleIdx="7" presStyleCnt="8"/>
      <dgm:spPr/>
    </dgm:pt>
    <dgm:pt modelId="{09C9B1AD-F560-864F-A212-ACEBAC2BCF29}" type="pres">
      <dgm:prSet presAssocID="{65E0D1E0-3015-417F-ABD2-C04E052DBD4B}" presName="vert1" presStyleCnt="0"/>
      <dgm:spPr/>
    </dgm:pt>
  </dgm:ptLst>
  <dgm:cxnLst>
    <dgm:cxn modelId="{34345924-CDE1-6848-BBAA-1EA4244EA906}" type="presOf" srcId="{65E0D1E0-3015-417F-ABD2-C04E052DBD4B}" destId="{F0406A8D-8919-D843-8736-3F5F5D0AD624}" srcOrd="0" destOrd="0" presId="urn:microsoft.com/office/officeart/2008/layout/LinedList"/>
    <dgm:cxn modelId="{807FFA35-3952-7A4C-9D74-07D7B5E35B67}" type="presOf" srcId="{A8B01D77-DD1E-4123-BE97-FAEB929C4903}" destId="{6468DF3A-163B-2C4F-BA7B-A0DAB970909C}" srcOrd="0" destOrd="0" presId="urn:microsoft.com/office/officeart/2008/layout/LinedList"/>
    <dgm:cxn modelId="{C2F46346-10BD-0E45-9491-D55D7E79DE7E}" type="presOf" srcId="{79BDDA0F-3913-4F24-87D2-5F9FD838ABB5}" destId="{493D083D-1A8B-D046-9769-2857E5525A97}" srcOrd="0" destOrd="0" presId="urn:microsoft.com/office/officeart/2008/layout/LinedList"/>
    <dgm:cxn modelId="{3F3A2953-EA03-4112-B006-628B6419EAF6}" srcId="{79BDDA0F-3913-4F24-87D2-5F9FD838ABB5}" destId="{65E0D1E0-3015-417F-ABD2-C04E052DBD4B}" srcOrd="7" destOrd="0" parTransId="{DC15F533-41F2-46C3-A4D4-EF96B4462DDA}" sibTransId="{EC1DD1CB-C137-471B-84B2-95989499C76F}"/>
    <dgm:cxn modelId="{85926B54-AD18-4B43-B515-950F6FD10268}" type="presOf" srcId="{4A0BB943-005B-4BC5-9267-2DD5E8C50AC9}" destId="{FD8FBAEB-5FC5-8243-9E44-0B787C1C371F}" srcOrd="0" destOrd="0" presId="urn:microsoft.com/office/officeart/2008/layout/LinedList"/>
    <dgm:cxn modelId="{F33A6765-2876-4701-87EA-1E43C9D772F6}" srcId="{79BDDA0F-3913-4F24-87D2-5F9FD838ABB5}" destId="{336D7A18-4EA5-4F08-A9D8-1657F18EC4C9}" srcOrd="1" destOrd="0" parTransId="{930316B3-A830-4830-B2B2-47BD6C785482}" sibTransId="{2BFD7AF8-577D-494B-9282-82684C5D23D4}"/>
    <dgm:cxn modelId="{A62B4777-F100-8E4C-83FB-0A559E65DF95}" type="presOf" srcId="{F19F4A55-C61B-4AE4-AF2D-80BD2EE61BC0}" destId="{81AAEF3F-3505-3B47-8FBC-A845644C9D8F}" srcOrd="0" destOrd="0" presId="urn:microsoft.com/office/officeart/2008/layout/LinedList"/>
    <dgm:cxn modelId="{23D55F7A-A695-460C-B52D-ADE7BB6A031D}" srcId="{79BDDA0F-3913-4F24-87D2-5F9FD838ABB5}" destId="{F19F4A55-C61B-4AE4-AF2D-80BD2EE61BC0}" srcOrd="4" destOrd="0" parTransId="{871A9E9E-F514-4A73-9035-8E7DE5E4C120}" sibTransId="{320D8DC3-2EBC-4F6A-8F27-B974ED05DEE2}"/>
    <dgm:cxn modelId="{9E8A017D-89EF-9243-9046-01B71AF6E4AC}" type="presOf" srcId="{80F71509-AB50-416C-B230-D469156AB24D}" destId="{8AB590AE-22B0-B34A-98BE-2CE0414B40A9}" srcOrd="0" destOrd="0" presId="urn:microsoft.com/office/officeart/2008/layout/LinedList"/>
    <dgm:cxn modelId="{45C02A9B-6787-2543-9FBF-DDBD2CF73CBC}" type="presOf" srcId="{1B88A0DD-C537-44C1-95B9-E2F710EDACE6}" destId="{76C0ED97-520B-994F-9DA2-272708CC888D}" srcOrd="0" destOrd="0" presId="urn:microsoft.com/office/officeart/2008/layout/LinedList"/>
    <dgm:cxn modelId="{BAF4E99E-66C3-4093-AEED-FF01A327A60D}" srcId="{79BDDA0F-3913-4F24-87D2-5F9FD838ABB5}" destId="{A8B01D77-DD1E-4123-BE97-FAEB929C4903}" srcOrd="6" destOrd="0" parTransId="{0E91CDCA-34C0-4183-BA8D-339138FB9FB6}" sibTransId="{319151B3-5FAD-431F-A78C-6A1FE6326123}"/>
    <dgm:cxn modelId="{17A068B1-8533-4449-8869-5D17829EDF12}" type="presOf" srcId="{336D7A18-4EA5-4F08-A9D8-1657F18EC4C9}" destId="{4026B3D9-0EEF-8041-B1E9-280161DC8323}" srcOrd="0" destOrd="0" presId="urn:microsoft.com/office/officeart/2008/layout/LinedList"/>
    <dgm:cxn modelId="{558A3DCB-BA6D-40C2-A04F-F4B04B927503}" srcId="{79BDDA0F-3913-4F24-87D2-5F9FD838ABB5}" destId="{CA74B508-ABEF-41D8-B179-E312EBFE7658}" srcOrd="0" destOrd="0" parTransId="{2FB9EC72-BB7B-4EB7-A312-C62E12C73148}" sibTransId="{3C930777-B342-41B6-A6AB-F8C03D78803B}"/>
    <dgm:cxn modelId="{4208F8D5-8BF5-4DDD-8023-E152DD5DB735}" srcId="{79BDDA0F-3913-4F24-87D2-5F9FD838ABB5}" destId="{4A0BB943-005B-4BC5-9267-2DD5E8C50AC9}" srcOrd="2" destOrd="0" parTransId="{26FB3FD0-C234-4E1F-9888-5FD35CB6BA9A}" sibTransId="{689166D7-50A3-487F-B48F-BA0CBCEE1C3F}"/>
    <dgm:cxn modelId="{83AB12EA-DAF1-4F3D-B862-1EE52992ACAA}" srcId="{79BDDA0F-3913-4F24-87D2-5F9FD838ABB5}" destId="{80F71509-AB50-416C-B230-D469156AB24D}" srcOrd="3" destOrd="0" parTransId="{7F1D5232-76F3-4522-A792-E18B58CDD946}" sibTransId="{308263EC-C52C-4ACD-96A1-E90B58FD2CBE}"/>
    <dgm:cxn modelId="{E32385EE-0235-5346-8E3D-166EB2937C14}" type="presOf" srcId="{CA74B508-ABEF-41D8-B179-E312EBFE7658}" destId="{8286E178-FEE8-9644-8398-75A1C205CA29}" srcOrd="0" destOrd="0" presId="urn:microsoft.com/office/officeart/2008/layout/LinedList"/>
    <dgm:cxn modelId="{D2CA8FF1-9F88-4AB8-9767-D7F80BB5B00D}" srcId="{79BDDA0F-3913-4F24-87D2-5F9FD838ABB5}" destId="{1B88A0DD-C537-44C1-95B9-E2F710EDACE6}" srcOrd="5" destOrd="0" parTransId="{BD7C97EA-7661-4826-BC87-C9730CC99BF4}" sibTransId="{33A10C00-E32E-42C1-984C-EE24CA2CC5A1}"/>
    <dgm:cxn modelId="{C343CBB0-F13E-E842-8DBF-CB1B94C06393}" type="presParOf" srcId="{493D083D-1A8B-D046-9769-2857E5525A97}" destId="{295E4C38-6525-BF46-A27E-04C35FFE64A9}" srcOrd="0" destOrd="0" presId="urn:microsoft.com/office/officeart/2008/layout/LinedList"/>
    <dgm:cxn modelId="{02CBAB96-6828-524B-9F69-AB8B42AADBD7}" type="presParOf" srcId="{493D083D-1A8B-D046-9769-2857E5525A97}" destId="{3E67BBC0-C802-EF42-A6E9-FAB58A41B3A0}" srcOrd="1" destOrd="0" presId="urn:microsoft.com/office/officeart/2008/layout/LinedList"/>
    <dgm:cxn modelId="{BD984187-C26F-F947-A1E8-86EA54C97D5D}" type="presParOf" srcId="{3E67BBC0-C802-EF42-A6E9-FAB58A41B3A0}" destId="{8286E178-FEE8-9644-8398-75A1C205CA29}" srcOrd="0" destOrd="0" presId="urn:microsoft.com/office/officeart/2008/layout/LinedList"/>
    <dgm:cxn modelId="{5C0D5F15-94A2-5D47-9737-4D3C7747198A}" type="presParOf" srcId="{3E67BBC0-C802-EF42-A6E9-FAB58A41B3A0}" destId="{8BB9D880-762A-4A48-9A1C-2F7CCB88201E}" srcOrd="1" destOrd="0" presId="urn:microsoft.com/office/officeart/2008/layout/LinedList"/>
    <dgm:cxn modelId="{382780FA-7694-BC4D-9D64-7C8EB10A79A1}" type="presParOf" srcId="{493D083D-1A8B-D046-9769-2857E5525A97}" destId="{3EACE14F-4D84-1A47-85EB-80B5050354B7}" srcOrd="2" destOrd="0" presId="urn:microsoft.com/office/officeart/2008/layout/LinedList"/>
    <dgm:cxn modelId="{CFA82F16-C66D-7346-851C-828D1E7C9561}" type="presParOf" srcId="{493D083D-1A8B-D046-9769-2857E5525A97}" destId="{D0284A77-B361-4A40-BCF1-7079A550D28D}" srcOrd="3" destOrd="0" presId="urn:microsoft.com/office/officeart/2008/layout/LinedList"/>
    <dgm:cxn modelId="{DE80873E-1240-E645-AD9A-1587001C0920}" type="presParOf" srcId="{D0284A77-B361-4A40-BCF1-7079A550D28D}" destId="{4026B3D9-0EEF-8041-B1E9-280161DC8323}" srcOrd="0" destOrd="0" presId="urn:microsoft.com/office/officeart/2008/layout/LinedList"/>
    <dgm:cxn modelId="{7EFE89D3-CE60-C34C-97A8-98F53B2FC980}" type="presParOf" srcId="{D0284A77-B361-4A40-BCF1-7079A550D28D}" destId="{B843DFA5-7816-CC43-9815-C6714160B26C}" srcOrd="1" destOrd="0" presId="urn:microsoft.com/office/officeart/2008/layout/LinedList"/>
    <dgm:cxn modelId="{7F1CB1A8-E4CF-D94C-8987-C9D7B029F768}" type="presParOf" srcId="{493D083D-1A8B-D046-9769-2857E5525A97}" destId="{4753B946-D7AC-CE4B-81A4-BDF8C24FBC18}" srcOrd="4" destOrd="0" presId="urn:microsoft.com/office/officeart/2008/layout/LinedList"/>
    <dgm:cxn modelId="{9CC880F7-A5D2-A045-A925-A2117D9D6D12}" type="presParOf" srcId="{493D083D-1A8B-D046-9769-2857E5525A97}" destId="{DCDBE06C-D604-C642-A919-F7A4C88CE98B}" srcOrd="5" destOrd="0" presId="urn:microsoft.com/office/officeart/2008/layout/LinedList"/>
    <dgm:cxn modelId="{A182F828-0889-984C-B74C-F23870B9AB65}" type="presParOf" srcId="{DCDBE06C-D604-C642-A919-F7A4C88CE98B}" destId="{FD8FBAEB-5FC5-8243-9E44-0B787C1C371F}" srcOrd="0" destOrd="0" presId="urn:microsoft.com/office/officeart/2008/layout/LinedList"/>
    <dgm:cxn modelId="{F9FB42BB-08EC-CF4C-A8AF-91A8B91B9706}" type="presParOf" srcId="{DCDBE06C-D604-C642-A919-F7A4C88CE98B}" destId="{E304FE17-2DD9-2D49-8A9A-0540FE15757F}" srcOrd="1" destOrd="0" presId="urn:microsoft.com/office/officeart/2008/layout/LinedList"/>
    <dgm:cxn modelId="{1237B061-AA40-8C49-A76F-BA846C6081C3}" type="presParOf" srcId="{493D083D-1A8B-D046-9769-2857E5525A97}" destId="{40D9B1E6-9D5A-B94B-8303-3D8F78D5AA52}" srcOrd="6" destOrd="0" presId="urn:microsoft.com/office/officeart/2008/layout/LinedList"/>
    <dgm:cxn modelId="{9927EF3E-E839-F041-910E-3FBE964DEC70}" type="presParOf" srcId="{493D083D-1A8B-D046-9769-2857E5525A97}" destId="{23F874DD-E57D-6649-AE69-D4725F35FE6F}" srcOrd="7" destOrd="0" presId="urn:microsoft.com/office/officeart/2008/layout/LinedList"/>
    <dgm:cxn modelId="{EE9798AB-5030-724C-A38B-F2841A1ADD6B}" type="presParOf" srcId="{23F874DD-E57D-6649-AE69-D4725F35FE6F}" destId="{8AB590AE-22B0-B34A-98BE-2CE0414B40A9}" srcOrd="0" destOrd="0" presId="urn:microsoft.com/office/officeart/2008/layout/LinedList"/>
    <dgm:cxn modelId="{FA71207D-45DE-134B-8472-CCC638417361}" type="presParOf" srcId="{23F874DD-E57D-6649-AE69-D4725F35FE6F}" destId="{50084D02-8EE2-E94B-8F03-16404B9975AA}" srcOrd="1" destOrd="0" presId="urn:microsoft.com/office/officeart/2008/layout/LinedList"/>
    <dgm:cxn modelId="{4DBEBB1C-5D62-2B42-9974-8E9AE12A4BB7}" type="presParOf" srcId="{493D083D-1A8B-D046-9769-2857E5525A97}" destId="{EE6058DF-C580-4F4E-AC6E-54A42AF41018}" srcOrd="8" destOrd="0" presId="urn:microsoft.com/office/officeart/2008/layout/LinedList"/>
    <dgm:cxn modelId="{ECF0FF8A-5DA6-E846-96B1-3D7F904C2445}" type="presParOf" srcId="{493D083D-1A8B-D046-9769-2857E5525A97}" destId="{820A62F7-B582-CD45-A3D1-2F9D987131FD}" srcOrd="9" destOrd="0" presId="urn:microsoft.com/office/officeart/2008/layout/LinedList"/>
    <dgm:cxn modelId="{7512BB31-B0EC-554F-974A-1AE38E6E8D62}" type="presParOf" srcId="{820A62F7-B582-CD45-A3D1-2F9D987131FD}" destId="{81AAEF3F-3505-3B47-8FBC-A845644C9D8F}" srcOrd="0" destOrd="0" presId="urn:microsoft.com/office/officeart/2008/layout/LinedList"/>
    <dgm:cxn modelId="{2D87A8AF-EAB7-A74D-8263-FB70873B0799}" type="presParOf" srcId="{820A62F7-B582-CD45-A3D1-2F9D987131FD}" destId="{8674BDB2-A37C-CC41-9AB7-CE25D1A3E0FD}" srcOrd="1" destOrd="0" presId="urn:microsoft.com/office/officeart/2008/layout/LinedList"/>
    <dgm:cxn modelId="{091020A6-7B47-5342-B919-DBEEF180F752}" type="presParOf" srcId="{493D083D-1A8B-D046-9769-2857E5525A97}" destId="{1749C9D6-16D3-4B48-BFA9-EED5F7D87B67}" srcOrd="10" destOrd="0" presId="urn:microsoft.com/office/officeart/2008/layout/LinedList"/>
    <dgm:cxn modelId="{1BD883DE-8614-D046-84C2-F88758AF4E30}" type="presParOf" srcId="{493D083D-1A8B-D046-9769-2857E5525A97}" destId="{2CB82D5A-3E54-FD45-A51D-B51D36F942EA}" srcOrd="11" destOrd="0" presId="urn:microsoft.com/office/officeart/2008/layout/LinedList"/>
    <dgm:cxn modelId="{C161DB47-8905-C94E-A394-F54CDDD0AC47}" type="presParOf" srcId="{2CB82D5A-3E54-FD45-A51D-B51D36F942EA}" destId="{76C0ED97-520B-994F-9DA2-272708CC888D}" srcOrd="0" destOrd="0" presId="urn:microsoft.com/office/officeart/2008/layout/LinedList"/>
    <dgm:cxn modelId="{E4075440-82F7-9A46-A52D-08AEAB889FF4}" type="presParOf" srcId="{2CB82D5A-3E54-FD45-A51D-B51D36F942EA}" destId="{05F2A6F4-8F2F-E344-8BC0-7B805DD217E0}" srcOrd="1" destOrd="0" presId="urn:microsoft.com/office/officeart/2008/layout/LinedList"/>
    <dgm:cxn modelId="{058AC9CB-743A-B047-BCA3-D26308720927}" type="presParOf" srcId="{493D083D-1A8B-D046-9769-2857E5525A97}" destId="{8185A476-052D-8C41-8D93-3FEFF4223D74}" srcOrd="12" destOrd="0" presId="urn:microsoft.com/office/officeart/2008/layout/LinedList"/>
    <dgm:cxn modelId="{47B53F59-A124-DB41-B1AF-0E7BE2658EB7}" type="presParOf" srcId="{493D083D-1A8B-D046-9769-2857E5525A97}" destId="{E86F50E5-07F7-0844-8C11-071779148758}" srcOrd="13" destOrd="0" presId="urn:microsoft.com/office/officeart/2008/layout/LinedList"/>
    <dgm:cxn modelId="{2A23500B-FCCB-0247-B362-4D29DF8A796B}" type="presParOf" srcId="{E86F50E5-07F7-0844-8C11-071779148758}" destId="{6468DF3A-163B-2C4F-BA7B-A0DAB970909C}" srcOrd="0" destOrd="0" presId="urn:microsoft.com/office/officeart/2008/layout/LinedList"/>
    <dgm:cxn modelId="{0090F1B5-CAD9-1742-93C6-6CDD8B0AB5D1}" type="presParOf" srcId="{E86F50E5-07F7-0844-8C11-071779148758}" destId="{7A25FA80-4524-E744-B35F-55EDE317A126}" srcOrd="1" destOrd="0" presId="urn:microsoft.com/office/officeart/2008/layout/LinedList"/>
    <dgm:cxn modelId="{D5F6140A-56AF-0A41-B0FA-72C123BB6FB5}" type="presParOf" srcId="{493D083D-1A8B-D046-9769-2857E5525A97}" destId="{29B71951-7177-6B41-82D0-7DF8AC51265F}" srcOrd="14" destOrd="0" presId="urn:microsoft.com/office/officeart/2008/layout/LinedList"/>
    <dgm:cxn modelId="{C0B3AB07-D3AC-304C-9A2D-92ADE2497C7F}" type="presParOf" srcId="{493D083D-1A8B-D046-9769-2857E5525A97}" destId="{9BA35032-53DE-BD49-87FD-44A16AE16DE1}" srcOrd="15" destOrd="0" presId="urn:microsoft.com/office/officeart/2008/layout/LinedList"/>
    <dgm:cxn modelId="{756B91D7-3E25-F340-9A1C-992C0E92ADA0}" type="presParOf" srcId="{9BA35032-53DE-BD49-87FD-44A16AE16DE1}" destId="{F0406A8D-8919-D843-8736-3F5F5D0AD624}" srcOrd="0" destOrd="0" presId="urn:microsoft.com/office/officeart/2008/layout/LinedList"/>
    <dgm:cxn modelId="{FB6328B3-0DDB-314E-BDD5-C12037CA57C4}" type="presParOf" srcId="{9BA35032-53DE-BD49-87FD-44A16AE16DE1}" destId="{09C9B1AD-F560-864F-A212-ACEBAC2BCF2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5E4C38-6525-BF46-A27E-04C35FFE64A9}">
      <dsp:nvSpPr>
        <dsp:cNvPr id="0" name=""/>
        <dsp:cNvSpPr/>
      </dsp:nvSpPr>
      <dsp:spPr>
        <a:xfrm>
          <a:off x="0" y="0"/>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286E178-FEE8-9644-8398-75A1C205CA29}">
      <dsp:nvSpPr>
        <dsp:cNvPr id="0" name=""/>
        <dsp:cNvSpPr/>
      </dsp:nvSpPr>
      <dsp:spPr>
        <a:xfrm>
          <a:off x="0" y="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1. Executive Summary</a:t>
          </a:r>
        </a:p>
      </dsp:txBody>
      <dsp:txXfrm>
        <a:off x="0" y="0"/>
        <a:ext cx="10515600" cy="543917"/>
      </dsp:txXfrm>
    </dsp:sp>
    <dsp:sp modelId="{3EACE14F-4D84-1A47-85EB-80B5050354B7}">
      <dsp:nvSpPr>
        <dsp:cNvPr id="0" name=""/>
        <dsp:cNvSpPr/>
      </dsp:nvSpPr>
      <dsp:spPr>
        <a:xfrm>
          <a:off x="0" y="543917"/>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026B3D9-0EEF-8041-B1E9-280161DC8323}">
      <dsp:nvSpPr>
        <dsp:cNvPr id="0" name=""/>
        <dsp:cNvSpPr/>
      </dsp:nvSpPr>
      <dsp:spPr>
        <a:xfrm>
          <a:off x="0" y="543917"/>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2. Decision Framework</a:t>
          </a:r>
        </a:p>
      </dsp:txBody>
      <dsp:txXfrm>
        <a:off x="0" y="543917"/>
        <a:ext cx="10515600" cy="543917"/>
      </dsp:txXfrm>
    </dsp:sp>
    <dsp:sp modelId="{4753B946-D7AC-CE4B-81A4-BDF8C24FBC18}">
      <dsp:nvSpPr>
        <dsp:cNvPr id="0" name=""/>
        <dsp:cNvSpPr/>
      </dsp:nvSpPr>
      <dsp:spPr>
        <a:xfrm>
          <a:off x="0" y="1087834"/>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D8FBAEB-5FC5-8243-9E44-0B787C1C371F}">
      <dsp:nvSpPr>
        <dsp:cNvPr id="0" name=""/>
        <dsp:cNvSpPr/>
      </dsp:nvSpPr>
      <dsp:spPr>
        <a:xfrm>
          <a:off x="0" y="1087834"/>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3. Netback Methodology</a:t>
          </a:r>
        </a:p>
      </dsp:txBody>
      <dsp:txXfrm>
        <a:off x="0" y="1087834"/>
        <a:ext cx="10515600" cy="543917"/>
      </dsp:txXfrm>
    </dsp:sp>
    <dsp:sp modelId="{40D9B1E6-9D5A-B94B-8303-3D8F78D5AA52}">
      <dsp:nvSpPr>
        <dsp:cNvPr id="0" name=""/>
        <dsp:cNvSpPr/>
      </dsp:nvSpPr>
      <dsp:spPr>
        <a:xfrm>
          <a:off x="0" y="1631751"/>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AB590AE-22B0-B34A-98BE-2CE0414B40A9}">
      <dsp:nvSpPr>
        <dsp:cNvPr id="0" name=""/>
        <dsp:cNvSpPr/>
      </dsp:nvSpPr>
      <dsp:spPr>
        <a:xfrm>
          <a:off x="0" y="1631751"/>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4. Example Diversion Decision</a:t>
          </a:r>
        </a:p>
      </dsp:txBody>
      <dsp:txXfrm>
        <a:off x="0" y="1631751"/>
        <a:ext cx="10515600" cy="543917"/>
      </dsp:txXfrm>
    </dsp:sp>
    <dsp:sp modelId="{EE6058DF-C580-4F4E-AC6E-54A42AF41018}">
      <dsp:nvSpPr>
        <dsp:cNvPr id="0" name=""/>
        <dsp:cNvSpPr/>
      </dsp:nvSpPr>
      <dsp:spPr>
        <a:xfrm>
          <a:off x="0" y="2175669"/>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1AAEF3F-3505-3B47-8FBC-A845644C9D8F}">
      <dsp:nvSpPr>
        <dsp:cNvPr id="0" name=""/>
        <dsp:cNvSpPr/>
      </dsp:nvSpPr>
      <dsp:spPr>
        <a:xfrm>
          <a:off x="0" y="2175669"/>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5. Risk &amp; Stress Testing</a:t>
          </a:r>
        </a:p>
      </dsp:txBody>
      <dsp:txXfrm>
        <a:off x="0" y="2175669"/>
        <a:ext cx="10515600" cy="543917"/>
      </dsp:txXfrm>
    </dsp:sp>
    <dsp:sp modelId="{1749C9D6-16D3-4B48-BFA9-EED5F7D87B67}">
      <dsp:nvSpPr>
        <dsp:cNvPr id="0" name=""/>
        <dsp:cNvSpPr/>
      </dsp:nvSpPr>
      <dsp:spPr>
        <a:xfrm>
          <a:off x="0" y="2719586"/>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6C0ED97-520B-994F-9DA2-272708CC888D}">
      <dsp:nvSpPr>
        <dsp:cNvPr id="0" name=""/>
        <dsp:cNvSpPr/>
      </dsp:nvSpPr>
      <dsp:spPr>
        <a:xfrm>
          <a:off x="0" y="2719586"/>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6. Rule Behavior (Historical Validation)</a:t>
          </a:r>
        </a:p>
      </dsp:txBody>
      <dsp:txXfrm>
        <a:off x="0" y="2719586"/>
        <a:ext cx="10515600" cy="543917"/>
      </dsp:txXfrm>
    </dsp:sp>
    <dsp:sp modelId="{8185A476-052D-8C41-8D93-3FEFF4223D74}">
      <dsp:nvSpPr>
        <dsp:cNvPr id="0" name=""/>
        <dsp:cNvSpPr/>
      </dsp:nvSpPr>
      <dsp:spPr>
        <a:xfrm>
          <a:off x="0" y="3263503"/>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468DF3A-163B-2C4F-BA7B-A0DAB970909C}">
      <dsp:nvSpPr>
        <dsp:cNvPr id="0" name=""/>
        <dsp:cNvSpPr/>
      </dsp:nvSpPr>
      <dsp:spPr>
        <a:xfrm>
          <a:off x="0" y="3263503"/>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7. Decision Waterfall</a:t>
          </a:r>
        </a:p>
      </dsp:txBody>
      <dsp:txXfrm>
        <a:off x="0" y="3263503"/>
        <a:ext cx="10515600" cy="543917"/>
      </dsp:txXfrm>
    </dsp:sp>
    <dsp:sp modelId="{29B71951-7177-6B41-82D0-7DF8AC51265F}">
      <dsp:nvSpPr>
        <dsp:cNvPr id="0" name=""/>
        <dsp:cNvSpPr/>
      </dsp:nvSpPr>
      <dsp:spPr>
        <a:xfrm>
          <a:off x="0" y="3807420"/>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0406A8D-8919-D843-8736-3F5F5D0AD624}">
      <dsp:nvSpPr>
        <dsp:cNvPr id="0" name=""/>
        <dsp:cNvSpPr/>
      </dsp:nvSpPr>
      <dsp:spPr>
        <a:xfrm>
          <a:off x="0" y="380742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8. Assumptions &amp; Next Steps</a:t>
          </a:r>
        </a:p>
      </dsp:txBody>
      <dsp:txXfrm>
        <a:off x="0" y="3807420"/>
        <a:ext cx="10515600" cy="5439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BE55D6-9BB7-6244-9DEA-CB237C9E26D8}" type="datetimeFigureOut">
              <a:rPr lang="en-US" smtClean="0"/>
              <a:t>3/7/26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3C4E5E-728F-BA40-8E14-C1A127B88DBF}" type="slidenum">
              <a:rPr lang="en-US" smtClean="0"/>
              <a:t>‹#›</a:t>
            </a:fld>
            <a:endParaRPr lang="en-US"/>
          </a:p>
        </p:txBody>
      </p:sp>
    </p:spTree>
    <p:extLst>
      <p:ext uri="{BB962C8B-B14F-4D97-AF65-F5344CB8AC3E}">
        <p14:creationId xmlns:p14="http://schemas.microsoft.com/office/powerpoint/2010/main" val="1274514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What this work tries to answer is a very simple but very common LNG trading question.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If an LNG cargo is loading in the US Gulf, and both Europe and Asia are potential destinations, when does it actually make sense to divert the vessel to Asia rather than keep the original Europe discharge plan?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That decision is not just about looking at whether JKM is higher than TTF.</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You also need to consider freight economics, voyage time, boil-off, carbon costs, and operational risk. So the objective here was to build a simple decision framework that structures that call explicitly.</a:t>
            </a:r>
            <a:br>
              <a:rPr lang="en-GB"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4</a:t>
            </a:fld>
            <a:endParaRPr lang="en-US"/>
          </a:p>
        </p:txBody>
      </p:sp>
    </p:spTree>
    <p:extLst>
      <p:ext uri="{BB962C8B-B14F-4D97-AF65-F5344CB8AC3E}">
        <p14:creationId xmlns:p14="http://schemas.microsoft.com/office/powerpoint/2010/main" val="521435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from slides.</a:t>
            </a:r>
          </a:p>
        </p:txBody>
      </p:sp>
      <p:sp>
        <p:nvSpPr>
          <p:cNvPr id="4" name="Slide Number Placeholder 3"/>
          <p:cNvSpPr>
            <a:spLocks noGrp="1"/>
          </p:cNvSpPr>
          <p:nvPr>
            <p:ph type="sldNum" sz="quarter" idx="5"/>
          </p:nvPr>
        </p:nvSpPr>
        <p:spPr/>
        <p:txBody>
          <a:bodyPr/>
          <a:lstStyle/>
          <a:p>
            <a:fld id="{133C4E5E-728F-BA40-8E14-C1A127B88DBF}" type="slidenum">
              <a:rPr lang="en-US" smtClean="0"/>
              <a:t>5</a:t>
            </a:fld>
            <a:endParaRPr lang="en-US"/>
          </a:p>
        </p:txBody>
      </p:sp>
    </p:spTree>
    <p:extLst>
      <p:ext uri="{BB962C8B-B14F-4D97-AF65-F5344CB8AC3E}">
        <p14:creationId xmlns:p14="http://schemas.microsoft.com/office/powerpoint/2010/main" val="1224691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the objective here was to build a simple decision framework that structures that call explicitly.</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model calculates Europe and Asia netbacks, applies conservative risk adjustments, and then generates a clear diversion decision together with hedge sizing.</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In the example shown here, the Asia netback exceeds the Europe netback by about $7.7 million before adjustments.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After applying a basis haircut and an operational risk buffer, the adjusted uplift is roughly $7.07 million, which triggers a DIVERT decision.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framework also generates a hedge recommendation using JKM and TTF futures</a:t>
            </a:r>
            <a:r>
              <a:rPr lang="en-GB" dirty="0">
                <a:effectLst/>
              </a:rPr>
              <a:t> </a:t>
            </a: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6</a:t>
            </a:fld>
            <a:endParaRPr lang="en-US"/>
          </a:p>
        </p:txBody>
      </p:sp>
    </p:spTree>
    <p:extLst>
      <p:ext uri="{BB962C8B-B14F-4D97-AF65-F5344CB8AC3E}">
        <p14:creationId xmlns:p14="http://schemas.microsoft.com/office/powerpoint/2010/main" val="2810438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decision framework is structured as a simple pipeline.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First we take market inputs such as TTF price, JKM proxy price, freight assumptions, fuel costs and carbon prices.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Those inputs feed into a netback model which calculates the delivered value of the cargo under different destination scenarios.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Next we apply risk adjustments.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These include a basis haircut to account for differences between physical LNG prices and hedge instruments, and an operational buffer to account for uncertainty such as port delays, weather or routing changes.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After those adjustments we evaluate the decision rule.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If the adjusted uplift exceeds a predefined decision buffer, the model recommends diverting the cargo.</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If it does not exceed that threshold, the cargo keeps its original destination.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Finally the framework produces a trade ticket showing the hedge required to lock in the economics.</a:t>
            </a:r>
            <a:r>
              <a:rPr lang="en-GB" dirty="0">
                <a:effectLst/>
              </a:rPr>
              <a:t> </a:t>
            </a: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8</a:t>
            </a:fld>
            <a:endParaRPr lang="en-US"/>
          </a:p>
        </p:txBody>
      </p:sp>
    </p:spTree>
    <p:extLst>
      <p:ext uri="{BB962C8B-B14F-4D97-AF65-F5344CB8AC3E}">
        <p14:creationId xmlns:p14="http://schemas.microsoft.com/office/powerpoint/2010/main" val="1653361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At the core of the model is a simple netback calculation.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Netback represents the value of delivering the cargo to a specific destination after all relevant voyage costs are deducted.</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Revenue is calculated as the destination price multiplied by the delivered LNG energy.</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delivered energy is adjusted for boil-off that occurs during the voyage.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Voyage costs include charter time, fuel consumption and the duration of the voyage based on distance and vessel speed.</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Carbon costs are also incorporated through EUA pricing and fuel emission factors.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result is a netback for Europe and a netback for Asia.</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difference between those two values is the economic incentive to divert.</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10</a:t>
            </a:fld>
            <a:endParaRPr lang="en-US"/>
          </a:p>
        </p:txBody>
      </p:sp>
    </p:spTree>
    <p:extLst>
      <p:ext uri="{BB962C8B-B14F-4D97-AF65-F5344CB8AC3E}">
        <p14:creationId xmlns:p14="http://schemas.microsoft.com/office/powerpoint/2010/main" val="350633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This slide shows the output of the engine for a single cargo example.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route considered is US Gulf loading with potential discharge either in Rotterdam or Tokyo.</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Under the current assumptions the Europe netback is approximately $126 million while the Asia netback is roughly $134 million.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That produces a raw uplift of about $7.7 million.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After applying the basis haircut and operational buffer, the adjusted uplift is still above the decision threshold.</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model therefore triggers a DIVERT decision.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hedge associated with that decision is to buy JKM futures and sell TTF futures in order to lock in the spread economics.</a:t>
            </a:r>
            <a:r>
              <a:rPr lang="en-GB" dirty="0">
                <a:effectLst/>
              </a:rPr>
              <a:t> </a:t>
            </a:r>
          </a:p>
          <a:p>
            <a:endParaRPr lang="en-GB" dirty="0">
              <a:effectLst/>
            </a:endParaRPr>
          </a:p>
        </p:txBody>
      </p:sp>
      <p:sp>
        <p:nvSpPr>
          <p:cNvPr id="4" name="Slide Number Placeholder 3"/>
          <p:cNvSpPr>
            <a:spLocks noGrp="1"/>
          </p:cNvSpPr>
          <p:nvPr>
            <p:ph type="sldNum" sz="quarter" idx="5"/>
          </p:nvPr>
        </p:nvSpPr>
        <p:spPr/>
        <p:txBody>
          <a:bodyPr/>
          <a:lstStyle/>
          <a:p>
            <a:fld id="{133C4E5E-728F-BA40-8E14-C1A127B88DBF}" type="slidenum">
              <a:rPr lang="en-US" smtClean="0"/>
              <a:t>12</a:t>
            </a:fld>
            <a:endParaRPr lang="en-US"/>
          </a:p>
        </p:txBody>
      </p:sp>
    </p:spTree>
    <p:extLst>
      <p:ext uri="{BB962C8B-B14F-4D97-AF65-F5344CB8AC3E}">
        <p14:creationId xmlns:p14="http://schemas.microsoft.com/office/powerpoint/2010/main" val="657810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 key question with any rule-based decision framework is how sensitive the decision is to changes in the market environment.</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To test that, the model runs a set of simple stress scenarios.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For example we look at what happens if the JKM-TTF spread collapses, if freight rates spike, or if carbon prices increase.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In the spread collapse scenario the adjusted uplift becomes negative and the decision flips from DIVERT to KEEP.</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That demonstrates that the decision rule is sensitive to the spread assumption, which is expected.</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Other scenarios such as freight shocks or carbon changes still leave the diversion profitable in this particular example.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purpose of this exercise is not to predict exact outcomes but to show how robust the decision is under different market conditions.</a:t>
            </a:r>
            <a:r>
              <a:rPr lang="en-GB" dirty="0">
                <a:effectLst/>
              </a:rPr>
              <a:t> </a:t>
            </a: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15</a:t>
            </a:fld>
            <a:endParaRPr lang="en-US"/>
          </a:p>
        </p:txBody>
      </p:sp>
    </p:spTree>
    <p:extLst>
      <p:ext uri="{BB962C8B-B14F-4D97-AF65-F5344CB8AC3E}">
        <p14:creationId xmlns:p14="http://schemas.microsoft.com/office/powerpoint/2010/main" val="3024333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To understand how the rule behaves over time, the framework was applied to historical market data.</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analysis covers roughly 538 days of observations.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During that period the diversion rule was triggered on around 92 percent of days.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average conditional uplift when diversion was triggered was about $4.9 million.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equity curve below shows the cumulative conditional uplift across the historical period.</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It’s important to stress that this is not realised trading </a:t>
            </a:r>
            <a:r>
              <a:rPr lang="en-GB" sz="1200" kern="1200" dirty="0" err="1">
                <a:solidFill>
                  <a:schemeClr val="tx1"/>
                </a:solidFill>
                <a:effectLst/>
                <a:latin typeface="+mn-lt"/>
                <a:ea typeface="+mn-ea"/>
                <a:cs typeface="+mn-cs"/>
              </a:rPr>
              <a:t>PnL</a:t>
            </a:r>
            <a:r>
              <a:rPr lang="en-GB" sz="1200" kern="1200" dirty="0">
                <a:solidFill>
                  <a:schemeClr val="tx1"/>
                </a:solidFill>
                <a:effectLst/>
                <a:latin typeface="+mn-lt"/>
                <a:ea typeface="+mn-ea"/>
                <a:cs typeface="+mn-cs"/>
              </a:rPr>
              <a:t>.</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It is simply a way to observe how often the economic conditions for diversion would have been satisfied under the model assumptions.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objective here is to understand rule behaviour rather than to claim a trading strategy.</a:t>
            </a:r>
            <a:r>
              <a:rPr lang="en-GB" dirty="0">
                <a:effectLst/>
              </a:rPr>
              <a:t> </a:t>
            </a: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17</a:t>
            </a:fld>
            <a:endParaRPr lang="en-US"/>
          </a:p>
        </p:txBody>
      </p:sp>
    </p:spTree>
    <p:extLst>
      <p:ext uri="{BB962C8B-B14F-4D97-AF65-F5344CB8AC3E}">
        <p14:creationId xmlns:p14="http://schemas.microsoft.com/office/powerpoint/2010/main" val="1468813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This waterfall illustrates how the decision evolves from the initial spread to the final adjusted result.</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We start with the raw uplift, which is simply the difference between Asia and Europe netbacks.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Next we apply a basis haircut.</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This reflects the fact that the physical LNG price and the hedge instruments are not perfectly aligned and that some execution slippage is inevitable.</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Then we subtract an operational risk buffer.</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This represents uncertainties such as delays, congestion or other logistical frictions that can affect the economics of a diversion.</a:t>
            </a:r>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After these adjustments we arrive at the adjusted uplift.</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If that adjusted value exceeds the decision threshold, the diversion is considered economically justified.</a:t>
            </a:r>
            <a:r>
              <a:rPr lang="en-GB" dirty="0">
                <a:effectLst/>
              </a:rPr>
              <a:t> </a:t>
            </a: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19</a:t>
            </a:fld>
            <a:endParaRPr lang="en-US"/>
          </a:p>
        </p:txBody>
      </p:sp>
    </p:spTree>
    <p:extLst>
      <p:ext uri="{BB962C8B-B14F-4D97-AF65-F5344CB8AC3E}">
        <p14:creationId xmlns:p14="http://schemas.microsoft.com/office/powerpoint/2010/main" val="3869592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framework intentionally keeps the modelling relatively simple, and there are several limitations worth highlighting.</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First, JKM prices are represented using a proxy rather than licensed Platts data.</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Freight rates are also simplified rather than derived from Baltic LNG freight indices.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Routing assumptions are simplified and do not incorporate detailed weather routing or canal congestion models.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Demurrage and port delay distributions are not explicitly modelled.</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Finally, the framework assumes full diversion flexibility and does not account for contract structure differences between FOB and DES cargoes.</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Each of these limitations suggests a natural next evolution.</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For example, integrating licensed JKM data, incorporating freight curves, modelling operational delays stochastically, and incorporating contract-aware diversion logic.</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goal of this project was not to fully replicate a trading system but to build a structured decision framework that can be progressively extended.</a:t>
            </a:r>
            <a:br>
              <a:rPr lang="en-GB"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133C4E5E-728F-BA40-8E14-C1A127B88DBF}" type="slidenum">
              <a:rPr lang="en-US" smtClean="0"/>
              <a:t>21</a:t>
            </a:fld>
            <a:endParaRPr lang="en-US"/>
          </a:p>
        </p:txBody>
      </p:sp>
    </p:spTree>
    <p:extLst>
      <p:ext uri="{BB962C8B-B14F-4D97-AF65-F5344CB8AC3E}">
        <p14:creationId xmlns:p14="http://schemas.microsoft.com/office/powerpoint/2010/main" val="3534538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33E3-DF2B-1252-2228-675FDE5B87A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B636292-BF60-F6C5-9E6D-0192C61D0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C518588-685D-E6E4-05B1-FC55CF3D6979}"/>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5" name="Footer Placeholder 4">
            <a:extLst>
              <a:ext uri="{FF2B5EF4-FFF2-40B4-BE49-F238E27FC236}">
                <a16:creationId xmlns:a16="http://schemas.microsoft.com/office/drawing/2014/main" id="{F45A5715-9739-987F-AE2F-D2916007FA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615171-7315-7D15-D0A4-5D5AA2E8B2A1}"/>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4040483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6C8F-F6FC-DE4D-F758-481B33D632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BEA85DB-B212-ABBE-4F0D-515971B831A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31CFFA-D8DD-D066-36DF-7058C885DA50}"/>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5" name="Footer Placeholder 4">
            <a:extLst>
              <a:ext uri="{FF2B5EF4-FFF2-40B4-BE49-F238E27FC236}">
                <a16:creationId xmlns:a16="http://schemas.microsoft.com/office/drawing/2014/main" id="{3F9DDAE1-9D72-3093-4203-7B3122FD3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C97102-C923-3288-AA9D-66E4395F65AE}"/>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3359161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3893-C291-FF09-45D2-07FA6545EB6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F10B9FF-0932-0A5D-EDE7-9EF84977A2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50CB99D-B736-52CD-8BE1-B8692B2E3992}"/>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5" name="Footer Placeholder 4">
            <a:extLst>
              <a:ext uri="{FF2B5EF4-FFF2-40B4-BE49-F238E27FC236}">
                <a16:creationId xmlns:a16="http://schemas.microsoft.com/office/drawing/2014/main" id="{960FF23C-48F2-E49A-A69D-35467F3F2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D7F1C3-3249-39A7-ADEE-C01354978C3E}"/>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1811122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8D14-AB07-D3A7-7D38-C8013AD5CE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E4EEF47-99E3-BB6F-243C-B6502A1D124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F3070D2-273F-9052-9CA1-E0E562140CC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77CAA89-34CA-CF6E-4A03-8794B785ADA2}"/>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6" name="Footer Placeholder 5">
            <a:extLst>
              <a:ext uri="{FF2B5EF4-FFF2-40B4-BE49-F238E27FC236}">
                <a16:creationId xmlns:a16="http://schemas.microsoft.com/office/drawing/2014/main" id="{FC14B996-B1D9-0772-9525-C01927F932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AD8A8D-BFB1-8C76-F2C1-8DED55C2B37B}"/>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1413780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13C9-044E-3A9D-FC8F-4E54447630C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6875564-28A1-E902-63D8-39216119DB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A9AFC13-4038-16B9-D9F3-4DEA5D0E5FD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28E29C7-7584-D330-6E2D-E4BD2B98E8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33704DF-00B4-54AD-66D9-9E8C32F8DCC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22D7F75-2055-786C-1983-6A95BF83BF9F}"/>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8" name="Footer Placeholder 7">
            <a:extLst>
              <a:ext uri="{FF2B5EF4-FFF2-40B4-BE49-F238E27FC236}">
                <a16:creationId xmlns:a16="http://schemas.microsoft.com/office/drawing/2014/main" id="{AADE4925-D143-C810-A20D-20C91FDE4A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502201-F149-2766-375F-B3157EC8350A}"/>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305197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E3732-7DBA-CFCF-261F-F333671A49F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B01B58C-C7F8-782C-2E2C-7FEAC4FCE8BD}"/>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4" name="Footer Placeholder 3">
            <a:extLst>
              <a:ext uri="{FF2B5EF4-FFF2-40B4-BE49-F238E27FC236}">
                <a16:creationId xmlns:a16="http://schemas.microsoft.com/office/drawing/2014/main" id="{B63E11D8-9534-B8DE-6401-514C09CCE5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071E57-81AB-03A5-72AC-EAD0E4E05E26}"/>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3343404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E92E42-9D3F-FF61-A2AC-78A4D8FA846E}"/>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3" name="Footer Placeholder 2">
            <a:extLst>
              <a:ext uri="{FF2B5EF4-FFF2-40B4-BE49-F238E27FC236}">
                <a16:creationId xmlns:a16="http://schemas.microsoft.com/office/drawing/2014/main" id="{59E787D8-3DD7-CA92-8DDF-8E88FB7C13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6E90A3-66A3-B66C-E6DC-75AC6283F01F}"/>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1232739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0D99E-7BBD-CC12-5E1C-16C3B4E4718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7ABD66-2BA3-825A-2A33-261913E47D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813AD6F-5E2F-5E8A-1288-06885A37BE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C9B06AD-7502-82CE-F6B2-7268B2EE37A3}"/>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6" name="Footer Placeholder 5">
            <a:extLst>
              <a:ext uri="{FF2B5EF4-FFF2-40B4-BE49-F238E27FC236}">
                <a16:creationId xmlns:a16="http://schemas.microsoft.com/office/drawing/2014/main" id="{1837562B-1C7E-FA93-7658-7CCFAA32CC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E4FC0A-8EC6-BD98-AF09-096951A71348}"/>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1583702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6034C-BC0A-EA4C-2EF5-3AE50893EC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DE8FF7D-A173-31E9-CD18-E42524ACC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EF8A1A-AF67-0D2C-8B56-13D1A748E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AC8076C-1B87-684A-8510-C8707848868C}"/>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6" name="Footer Placeholder 5">
            <a:extLst>
              <a:ext uri="{FF2B5EF4-FFF2-40B4-BE49-F238E27FC236}">
                <a16:creationId xmlns:a16="http://schemas.microsoft.com/office/drawing/2014/main" id="{5C8C0323-091D-2D12-75E9-7CE8CABE6B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5C43B1-FA10-3568-96B6-419DCE925D68}"/>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444042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2351-255A-AE2E-D9A1-C05CE146454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97DD0A3-4FF7-F420-7640-9F353FB6167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4100F5-3F75-6BC8-7895-97C57CBE978E}"/>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5" name="Footer Placeholder 4">
            <a:extLst>
              <a:ext uri="{FF2B5EF4-FFF2-40B4-BE49-F238E27FC236}">
                <a16:creationId xmlns:a16="http://schemas.microsoft.com/office/drawing/2014/main" id="{CCB23BF1-8A85-A729-8CC9-50F436222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4144D8-876B-C08F-1431-7F1C10A3CB05}"/>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3117287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5046BB-36AC-16C6-3B7A-91D9B9026E1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246870F-4A43-13C5-09CF-D1EDF5EE4FD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97ECCD8-604B-ACD5-1408-A4E5ED305EAB}"/>
              </a:ext>
            </a:extLst>
          </p:cNvPr>
          <p:cNvSpPr>
            <a:spLocks noGrp="1"/>
          </p:cNvSpPr>
          <p:nvPr>
            <p:ph type="dt" sz="half" idx="10"/>
          </p:nvPr>
        </p:nvSpPr>
        <p:spPr/>
        <p:txBody>
          <a:bodyPr/>
          <a:lstStyle/>
          <a:p>
            <a:fld id="{546BE021-0FF0-6C4F-8589-C4B8CB8BC313}" type="datetimeFigureOut">
              <a:rPr lang="en-US" smtClean="0"/>
              <a:t>3/7/26</a:t>
            </a:fld>
            <a:endParaRPr lang="en-US"/>
          </a:p>
        </p:txBody>
      </p:sp>
      <p:sp>
        <p:nvSpPr>
          <p:cNvPr id="5" name="Footer Placeholder 4">
            <a:extLst>
              <a:ext uri="{FF2B5EF4-FFF2-40B4-BE49-F238E27FC236}">
                <a16:creationId xmlns:a16="http://schemas.microsoft.com/office/drawing/2014/main" id="{F51B68B9-C7B1-8D52-D6C4-4920EB0C3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DDBF8-4B9D-9528-C8FB-3486074BB583}"/>
              </a:ext>
            </a:extLst>
          </p:cNvPr>
          <p:cNvSpPr>
            <a:spLocks noGrp="1"/>
          </p:cNvSpPr>
          <p:nvPr>
            <p:ph type="sldNum" sz="quarter" idx="12"/>
          </p:nvPr>
        </p:nvSpPr>
        <p:spPr/>
        <p:txBody>
          <a:bodyPr/>
          <a:lstStyle/>
          <a:p>
            <a:fld id="{0B836401-2F70-6E4D-A0B9-21BFED79BCE8}" type="slidenum">
              <a:rPr lang="en-US" smtClean="0"/>
              <a:t>‹#›</a:t>
            </a:fld>
            <a:endParaRPr lang="en-US"/>
          </a:p>
        </p:txBody>
      </p:sp>
    </p:spTree>
    <p:extLst>
      <p:ext uri="{BB962C8B-B14F-4D97-AF65-F5344CB8AC3E}">
        <p14:creationId xmlns:p14="http://schemas.microsoft.com/office/powerpoint/2010/main" val="2374151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8EA0C5-AB03-30A8-73FD-EFB691B1A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56DF7DA-F10E-B0B6-31D8-13BBD9B8D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D42BE12-D51D-4B14-0CD4-DFB80B90C2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6BE021-0FF0-6C4F-8589-C4B8CB8BC313}" type="datetimeFigureOut">
              <a:rPr lang="en-US" smtClean="0"/>
              <a:t>3/7/26</a:t>
            </a:fld>
            <a:endParaRPr lang="en-US"/>
          </a:p>
        </p:txBody>
      </p:sp>
      <p:sp>
        <p:nvSpPr>
          <p:cNvPr id="5" name="Footer Placeholder 4">
            <a:extLst>
              <a:ext uri="{FF2B5EF4-FFF2-40B4-BE49-F238E27FC236}">
                <a16:creationId xmlns:a16="http://schemas.microsoft.com/office/drawing/2014/main" id="{5C4B1201-9555-D0A2-7E29-8562F74E31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B00D40-068B-1489-C2AD-2C5CE4E4F4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836401-2F70-6E4D-A0B9-21BFED79BCE8}" type="slidenum">
              <a:rPr lang="en-US" smtClean="0"/>
              <a:t>‹#›</a:t>
            </a:fld>
            <a:endParaRPr lang="en-US"/>
          </a:p>
        </p:txBody>
      </p:sp>
    </p:spTree>
    <p:extLst>
      <p:ext uri="{BB962C8B-B14F-4D97-AF65-F5344CB8AC3E}">
        <p14:creationId xmlns:p14="http://schemas.microsoft.com/office/powerpoint/2010/main" val="484010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86EA-0D31-CA9E-F9E1-0C4E6B581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BC80D-2F9B-52D0-A892-DA04D98B476B}"/>
              </a:ext>
            </a:extLst>
          </p:cNvPr>
          <p:cNvSpPr>
            <a:spLocks noGrp="1"/>
          </p:cNvSpPr>
          <p:nvPr>
            <p:ph type="ctrTitle"/>
          </p:nvPr>
        </p:nvSpPr>
        <p:spPr>
          <a:xfrm>
            <a:off x="1676400" y="4178565"/>
            <a:ext cx="9144000" cy="1391177"/>
          </a:xfrm>
        </p:spPr>
        <p:txBody>
          <a:bodyPr>
            <a:normAutofit/>
          </a:bodyPr>
          <a:lstStyle/>
          <a:p>
            <a:r>
              <a:rPr lang="en-US" sz="4400" dirty="0"/>
              <a:t>LNG Cargo Diversion Decision Engine</a:t>
            </a:r>
          </a:p>
        </p:txBody>
      </p:sp>
      <p:sp>
        <p:nvSpPr>
          <p:cNvPr id="3" name="Subtitle 2">
            <a:extLst>
              <a:ext uri="{FF2B5EF4-FFF2-40B4-BE49-F238E27FC236}">
                <a16:creationId xmlns:a16="http://schemas.microsoft.com/office/drawing/2014/main" id="{BA576A93-6633-C6BD-81A5-56BAE47F4A9D}"/>
              </a:ext>
            </a:extLst>
          </p:cNvPr>
          <p:cNvSpPr>
            <a:spLocks noGrp="1"/>
          </p:cNvSpPr>
          <p:nvPr>
            <p:ph type="subTitle" idx="1"/>
          </p:nvPr>
        </p:nvSpPr>
        <p:spPr>
          <a:xfrm>
            <a:off x="1524000" y="5569742"/>
            <a:ext cx="9144000" cy="1655762"/>
          </a:xfrm>
        </p:spPr>
        <p:txBody>
          <a:bodyPr>
            <a:normAutofit/>
          </a:bodyPr>
          <a:lstStyle/>
          <a:p>
            <a:r>
              <a:rPr lang="en-US" sz="2000" dirty="0"/>
              <a:t>Structured decision framework for Europe vs Asia LNG diversion economics.</a:t>
            </a:r>
          </a:p>
        </p:txBody>
      </p:sp>
      <p:sp>
        <p:nvSpPr>
          <p:cNvPr id="4" name="Subtitle 2">
            <a:extLst>
              <a:ext uri="{FF2B5EF4-FFF2-40B4-BE49-F238E27FC236}">
                <a16:creationId xmlns:a16="http://schemas.microsoft.com/office/drawing/2014/main" id="{5F322041-13EC-7D16-2A03-2EDF023F8F6A}"/>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390118BC-E102-DBC9-7F2D-92CA8451508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descr="A large ship with large tanks&#10;&#10;AI-generated content may be incorrect.">
            <a:extLst>
              <a:ext uri="{FF2B5EF4-FFF2-40B4-BE49-F238E27FC236}">
                <a16:creationId xmlns:a16="http://schemas.microsoft.com/office/drawing/2014/main" id="{94B3DA6A-93CC-546F-FE1E-A6C177E22AFE}"/>
              </a:ext>
            </a:extLst>
          </p:cNvPr>
          <p:cNvPicPr>
            <a:picLocks noChangeAspect="1"/>
          </p:cNvPicPr>
          <p:nvPr/>
        </p:nvPicPr>
        <p:blipFill>
          <a:blip r:embed="rId2"/>
          <a:stretch>
            <a:fillRect/>
          </a:stretch>
        </p:blipFill>
        <p:spPr>
          <a:xfrm>
            <a:off x="1929847" y="260712"/>
            <a:ext cx="8332305" cy="4524181"/>
          </a:xfrm>
          <a:prstGeom prst="rect">
            <a:avLst/>
          </a:prstGeom>
        </p:spPr>
      </p:pic>
    </p:spTree>
    <p:extLst>
      <p:ext uri="{BB962C8B-B14F-4D97-AF65-F5344CB8AC3E}">
        <p14:creationId xmlns:p14="http://schemas.microsoft.com/office/powerpoint/2010/main" val="4056241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blurry blue and green background&#10;&#10;AI-generated content may be incorrect.">
            <a:extLst>
              <a:ext uri="{FF2B5EF4-FFF2-40B4-BE49-F238E27FC236}">
                <a16:creationId xmlns:a16="http://schemas.microsoft.com/office/drawing/2014/main" id="{B8F964B1-E3C2-494D-63D0-61091784D69D}"/>
              </a:ext>
            </a:extLst>
          </p:cNvPr>
          <p:cNvPicPr>
            <a:picLocks noChangeAspect="1"/>
          </p:cNvPicPr>
          <p:nvPr/>
        </p:nvPicPr>
        <p:blipFill>
          <a:blip r:embed="rId2">
            <a:duotone>
              <a:schemeClr val="bg2">
                <a:shade val="45000"/>
                <a:satMod val="135000"/>
              </a:schemeClr>
              <a:prstClr val="white"/>
            </a:duotone>
          </a:blip>
          <a:srcRect t="23677" r="9091"/>
          <a:stretch>
            <a:fillRect/>
          </a:stretch>
        </p:blipFill>
        <p:spPr>
          <a:xfrm>
            <a:off x="20" y="237077"/>
            <a:ext cx="12191980" cy="6857990"/>
          </a:xfrm>
          <a:prstGeom prst="rect">
            <a:avLst/>
          </a:prstGeom>
          <a:solidFill>
            <a:schemeClr val="tx2"/>
          </a:solidFill>
        </p:spPr>
      </p:pic>
      <p:sp>
        <p:nvSpPr>
          <p:cNvPr id="15" name="Rectangle 1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E67DF7-C239-107E-26AE-EB3668CE326F}"/>
              </a:ext>
            </a:extLst>
          </p:cNvPr>
          <p:cNvSpPr>
            <a:spLocks noGrp="1"/>
          </p:cNvSpPr>
          <p:nvPr>
            <p:ph type="title"/>
          </p:nvPr>
        </p:nvSpPr>
        <p:spPr>
          <a:xfrm>
            <a:off x="838200" y="365125"/>
            <a:ext cx="10515600" cy="1325563"/>
          </a:xfrm>
        </p:spPr>
        <p:txBody>
          <a:bodyPr>
            <a:normAutofit/>
          </a:bodyPr>
          <a:lstStyle/>
          <a:p>
            <a:r>
              <a:rPr lang="en-US"/>
              <a:t>Contents</a:t>
            </a:r>
          </a:p>
        </p:txBody>
      </p:sp>
      <p:graphicFrame>
        <p:nvGraphicFramePr>
          <p:cNvPr id="9" name="Content Placeholder 2">
            <a:extLst>
              <a:ext uri="{FF2B5EF4-FFF2-40B4-BE49-F238E27FC236}">
                <a16:creationId xmlns:a16="http://schemas.microsoft.com/office/drawing/2014/main" id="{FC6B96D1-E521-AEFE-E0FE-80038CDF3D0E}"/>
              </a:ext>
            </a:extLst>
          </p:cNvPr>
          <p:cNvGraphicFramePr>
            <a:graphicFrameLocks noGrp="1"/>
          </p:cNvGraphicFramePr>
          <p:nvPr>
            <p:ph idx="1"/>
            <p:extLst>
              <p:ext uri="{D42A27DB-BD31-4B8C-83A1-F6EECF244321}">
                <p14:modId xmlns:p14="http://schemas.microsoft.com/office/powerpoint/2010/main" val="40980691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8783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61006-E09F-F605-7AD3-A20127FE7CCB}"/>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38719CEB-D9AB-5B4D-F585-D08FE26A1C13}"/>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D1B65533-CF14-6DCE-1D12-208062768AF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D6F7764A-9E48-2141-AFD0-B9769B2C948D}"/>
              </a:ext>
            </a:extLst>
          </p:cNvPr>
          <p:cNvSpPr txBox="1">
            <a:spLocks/>
          </p:cNvSpPr>
          <p:nvPr/>
        </p:nvSpPr>
        <p:spPr>
          <a:xfrm>
            <a:off x="7619994" y="3691466"/>
            <a:ext cx="4077539" cy="6334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600" dirty="0"/>
              <a:t>Executive Summary</a:t>
            </a:r>
          </a:p>
        </p:txBody>
      </p:sp>
      <p:sp>
        <p:nvSpPr>
          <p:cNvPr id="13" name="Text Placeholder 4">
            <a:extLst>
              <a:ext uri="{FF2B5EF4-FFF2-40B4-BE49-F238E27FC236}">
                <a16:creationId xmlns:a16="http://schemas.microsoft.com/office/drawing/2014/main" id="{1CBD6926-DA95-9739-35CC-B0BE1016EB13}"/>
              </a:ext>
            </a:extLst>
          </p:cNvPr>
          <p:cNvSpPr txBox="1">
            <a:spLocks/>
          </p:cNvSpPr>
          <p:nvPr/>
        </p:nvSpPr>
        <p:spPr>
          <a:xfrm>
            <a:off x="7619994"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1</a:t>
            </a:r>
          </a:p>
        </p:txBody>
      </p:sp>
    </p:spTree>
    <p:extLst>
      <p:ext uri="{BB962C8B-B14F-4D97-AF65-F5344CB8AC3E}">
        <p14:creationId xmlns:p14="http://schemas.microsoft.com/office/powerpoint/2010/main" val="2497533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78A67-D011-3911-C6D1-C2C6DD5915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003383-94A1-1DB7-66FD-5DFF3BE0881F}"/>
              </a:ext>
            </a:extLst>
          </p:cNvPr>
          <p:cNvSpPr txBox="1"/>
          <p:nvPr/>
        </p:nvSpPr>
        <p:spPr>
          <a:xfrm>
            <a:off x="478971" y="790588"/>
            <a:ext cx="11713029" cy="5457812"/>
          </a:xfrm>
          <a:prstGeom prst="rect">
            <a:avLst/>
          </a:prstGeom>
          <a:solidFill>
            <a:schemeClr val="bg1">
              <a:lumMod val="85000"/>
            </a:schemeClr>
          </a:solidFill>
        </p:spPr>
        <p:txBody>
          <a:bodyPr wrap="square" rtlCol="0">
            <a:spAutoFit/>
          </a:bodyPr>
          <a:lstStyle/>
          <a:p>
            <a:endParaRPr lang="en-GB" dirty="0"/>
          </a:p>
        </p:txBody>
      </p:sp>
      <p:sp>
        <p:nvSpPr>
          <p:cNvPr id="4" name="Subtitle 2">
            <a:extLst>
              <a:ext uri="{FF2B5EF4-FFF2-40B4-BE49-F238E27FC236}">
                <a16:creationId xmlns:a16="http://schemas.microsoft.com/office/drawing/2014/main" id="{923ACDFE-D3A8-BA1A-744F-DCA8EDD1127E}"/>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7F008FDD-FC8D-A048-6FF7-7E88C09D630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6B2479F-B95C-ECD6-15DA-FC7207CB4E63}"/>
              </a:ext>
            </a:extLst>
          </p:cNvPr>
          <p:cNvSpPr txBox="1"/>
          <p:nvPr/>
        </p:nvSpPr>
        <p:spPr>
          <a:xfrm>
            <a:off x="478971" y="54430"/>
            <a:ext cx="7629993" cy="584775"/>
          </a:xfrm>
          <a:prstGeom prst="rect">
            <a:avLst/>
          </a:prstGeom>
          <a:noFill/>
        </p:spPr>
        <p:txBody>
          <a:bodyPr wrap="square" rtlCol="0">
            <a:spAutoFit/>
          </a:bodyPr>
          <a:lstStyle/>
          <a:p>
            <a:r>
              <a:rPr lang="en-GB" sz="3200" b="1" dirty="0"/>
              <a:t>Problem</a:t>
            </a:r>
          </a:p>
        </p:txBody>
      </p:sp>
      <p:sp>
        <p:nvSpPr>
          <p:cNvPr id="12" name="TextBox 11">
            <a:extLst>
              <a:ext uri="{FF2B5EF4-FFF2-40B4-BE49-F238E27FC236}">
                <a16:creationId xmlns:a16="http://schemas.microsoft.com/office/drawing/2014/main" id="{8ED4E357-07B0-E663-0DF1-C0E857BE2CFF}"/>
              </a:ext>
            </a:extLst>
          </p:cNvPr>
          <p:cNvSpPr txBox="1"/>
          <p:nvPr/>
        </p:nvSpPr>
        <p:spPr>
          <a:xfrm>
            <a:off x="611084" y="918365"/>
            <a:ext cx="9742206" cy="3785652"/>
          </a:xfrm>
          <a:prstGeom prst="rect">
            <a:avLst/>
          </a:prstGeom>
          <a:noFill/>
        </p:spPr>
        <p:txBody>
          <a:bodyPr wrap="square" rtlCol="0">
            <a:spAutoFit/>
          </a:bodyPr>
          <a:lstStyle/>
          <a:p>
            <a:r>
              <a:rPr lang="en-US" sz="2400" dirty="0"/>
              <a:t>Given an LNG cargo loading in the US Gulf</a:t>
            </a:r>
            <a:br>
              <a:rPr lang="en-US" sz="2400" dirty="0"/>
            </a:br>
            <a:br>
              <a:rPr lang="en-US" sz="2400" dirty="0"/>
            </a:br>
            <a:r>
              <a:rPr lang="en-US" sz="2400" dirty="0"/>
              <a:t>Should the vessel discharge in Europe (TTF) or divert to Asia (JKM)?</a:t>
            </a:r>
            <a:br>
              <a:rPr lang="en-US" sz="2400" dirty="0"/>
            </a:br>
            <a:br>
              <a:rPr lang="en-US" sz="2400" dirty="0"/>
            </a:br>
            <a:r>
              <a:rPr lang="en-US" sz="2400" dirty="0"/>
              <a:t>Decision requires integrating:</a:t>
            </a:r>
          </a:p>
          <a:p>
            <a:pPr marL="342900" indent="-342900">
              <a:buFont typeface="Arial" panose="020B0604020202020204" pitchFamily="34" charset="0"/>
              <a:buChar char="•"/>
            </a:pPr>
            <a:r>
              <a:rPr lang="en-US" sz="2400" dirty="0"/>
              <a:t>Price spreads</a:t>
            </a:r>
          </a:p>
          <a:p>
            <a:pPr marL="342900" indent="-342900">
              <a:buFont typeface="Arial" panose="020B0604020202020204" pitchFamily="34" charset="0"/>
              <a:buChar char="•"/>
            </a:pPr>
            <a:r>
              <a:rPr lang="en-US" sz="2400" dirty="0"/>
              <a:t>Freight economics</a:t>
            </a:r>
          </a:p>
          <a:p>
            <a:pPr marL="342900" indent="-342900">
              <a:buFont typeface="Arial" panose="020B0604020202020204" pitchFamily="34" charset="0"/>
              <a:buChar char="•"/>
            </a:pPr>
            <a:r>
              <a:rPr lang="en-US" sz="2400" dirty="0"/>
              <a:t>Carbon costs</a:t>
            </a:r>
          </a:p>
          <a:p>
            <a:pPr marL="342900" indent="-342900">
              <a:buFont typeface="Arial" panose="020B0604020202020204" pitchFamily="34" charset="0"/>
              <a:buChar char="•"/>
            </a:pPr>
            <a:r>
              <a:rPr lang="en-US" sz="2400" dirty="0"/>
              <a:t>Operational risk buffers</a:t>
            </a:r>
          </a:p>
          <a:p>
            <a:pPr marL="342900" indent="-342900">
              <a:buFont typeface="Arial" panose="020B0604020202020204" pitchFamily="34" charset="0"/>
              <a:buChar char="•"/>
            </a:pPr>
            <a:r>
              <a:rPr lang="en-US" sz="2400" dirty="0"/>
              <a:t>Hedge execution considerations</a:t>
            </a:r>
          </a:p>
        </p:txBody>
      </p:sp>
      <p:pic>
        <p:nvPicPr>
          <p:cNvPr id="1032" name="Picture 8">
            <a:extLst>
              <a:ext uri="{FF2B5EF4-FFF2-40B4-BE49-F238E27FC236}">
                <a16:creationId xmlns:a16="http://schemas.microsoft.com/office/drawing/2014/main" id="{0D5F70DA-38E2-9BD3-69B8-1233A37C7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7760" y="3021717"/>
            <a:ext cx="6325037" cy="2917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477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1E8B2-6295-F35B-2BCA-F21DC8C930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BB4A5F-259A-24B2-AE5F-9908817D0452}"/>
              </a:ext>
            </a:extLst>
          </p:cNvPr>
          <p:cNvSpPr txBox="1"/>
          <p:nvPr/>
        </p:nvSpPr>
        <p:spPr>
          <a:xfrm>
            <a:off x="478971" y="1491305"/>
            <a:ext cx="11136086" cy="4332515"/>
          </a:xfrm>
          <a:prstGeom prst="rect">
            <a:avLst/>
          </a:prstGeom>
          <a:solidFill>
            <a:schemeClr val="bg1">
              <a:lumMod val="85000"/>
            </a:schemeClr>
          </a:solidFill>
        </p:spPr>
        <p:txBody>
          <a:bodyPr wrap="square" rtlCol="0">
            <a:spAutoFit/>
          </a:bodyPr>
          <a:lstStyle/>
          <a:p>
            <a:endParaRPr lang="en-GB" dirty="0"/>
          </a:p>
        </p:txBody>
      </p:sp>
      <p:sp>
        <p:nvSpPr>
          <p:cNvPr id="4" name="Subtitle 2">
            <a:extLst>
              <a:ext uri="{FF2B5EF4-FFF2-40B4-BE49-F238E27FC236}">
                <a16:creationId xmlns:a16="http://schemas.microsoft.com/office/drawing/2014/main" id="{26639770-3D2A-EB75-3FB6-AB2BEDA492BC}"/>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65435A54-BE9F-901B-29D5-4645831146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B8F466EA-B1D3-0017-9BE8-0C61AD1CC794}"/>
              </a:ext>
            </a:extLst>
          </p:cNvPr>
          <p:cNvSpPr txBox="1"/>
          <p:nvPr/>
        </p:nvSpPr>
        <p:spPr>
          <a:xfrm>
            <a:off x="478971" y="54430"/>
            <a:ext cx="7629993" cy="584775"/>
          </a:xfrm>
          <a:prstGeom prst="rect">
            <a:avLst/>
          </a:prstGeom>
          <a:noFill/>
        </p:spPr>
        <p:txBody>
          <a:bodyPr wrap="square" rtlCol="0">
            <a:spAutoFit/>
          </a:bodyPr>
          <a:lstStyle/>
          <a:p>
            <a:r>
              <a:rPr lang="en-GB" sz="3200" b="1" dirty="0"/>
              <a:t>Approach</a:t>
            </a:r>
          </a:p>
        </p:txBody>
      </p:sp>
      <p:sp>
        <p:nvSpPr>
          <p:cNvPr id="12" name="TextBox 11">
            <a:extLst>
              <a:ext uri="{FF2B5EF4-FFF2-40B4-BE49-F238E27FC236}">
                <a16:creationId xmlns:a16="http://schemas.microsoft.com/office/drawing/2014/main" id="{45AD19F1-C835-3D5A-16D6-D96C2454EC0A}"/>
              </a:ext>
            </a:extLst>
          </p:cNvPr>
          <p:cNvSpPr txBox="1"/>
          <p:nvPr/>
        </p:nvSpPr>
        <p:spPr>
          <a:xfrm>
            <a:off x="576943" y="1569529"/>
            <a:ext cx="9742206" cy="1938992"/>
          </a:xfrm>
          <a:prstGeom prst="rect">
            <a:avLst/>
          </a:prstGeom>
          <a:noFill/>
        </p:spPr>
        <p:txBody>
          <a:bodyPr wrap="square" rtlCol="0">
            <a:spAutoFit/>
          </a:bodyPr>
          <a:lstStyle/>
          <a:p>
            <a:r>
              <a:rPr lang="en-US" sz="2400" dirty="0"/>
              <a:t>A rule-based decision engine that:</a:t>
            </a:r>
          </a:p>
          <a:p>
            <a:pPr marL="342900" indent="-342900">
              <a:buFont typeface="Arial" panose="020B0604020202020204" pitchFamily="34" charset="0"/>
              <a:buChar char="•"/>
            </a:pPr>
            <a:r>
              <a:rPr lang="en-US" sz="2400" dirty="0"/>
              <a:t>Calculates netback economics</a:t>
            </a:r>
          </a:p>
          <a:p>
            <a:pPr marL="342900" indent="-342900">
              <a:buFont typeface="Arial" panose="020B0604020202020204" pitchFamily="34" charset="0"/>
              <a:buChar char="•"/>
            </a:pPr>
            <a:r>
              <a:rPr lang="en-US" sz="2400" dirty="0"/>
              <a:t>Applies conservative risk adjustments</a:t>
            </a:r>
          </a:p>
          <a:p>
            <a:pPr marL="342900" indent="-342900">
              <a:buFont typeface="Arial" panose="020B0604020202020204" pitchFamily="34" charset="0"/>
              <a:buChar char="•"/>
            </a:pPr>
            <a:r>
              <a:rPr lang="en-US" sz="2400" dirty="0"/>
              <a:t>Generates executable hedge instructions</a:t>
            </a:r>
          </a:p>
          <a:p>
            <a:pPr marL="342900" indent="-342900">
              <a:buFont typeface="Arial" panose="020B0604020202020204" pitchFamily="34" charset="0"/>
              <a:buChar char="•"/>
            </a:pPr>
            <a:r>
              <a:rPr lang="en-US" sz="2400" dirty="0"/>
              <a:t>Validates behavior via historical rule testing</a:t>
            </a:r>
          </a:p>
        </p:txBody>
      </p:sp>
    </p:spTree>
    <p:extLst>
      <p:ext uri="{BB962C8B-B14F-4D97-AF65-F5344CB8AC3E}">
        <p14:creationId xmlns:p14="http://schemas.microsoft.com/office/powerpoint/2010/main" val="2884142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3F30-2FBB-04EE-ADBF-F8051DA47128}"/>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495E9772-7BF8-64B3-9691-AED455762FBB}"/>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8F8864B6-F404-4D78-D432-DDA144AE8CF5}"/>
              </a:ext>
            </a:extLst>
          </p:cNvPr>
          <p:cNvSpPr>
            <a:spLocks noChangeAspect="1" noChangeArrowheads="1"/>
          </p:cNvSpPr>
          <p:nvPr/>
        </p:nvSpPr>
        <p:spPr bwMode="auto">
          <a:xfrm>
            <a:off x="6634162" y="3866415"/>
            <a:ext cx="744019" cy="6933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72E5FDD5-35DF-7088-C09D-FE12E0AE8591}"/>
              </a:ext>
            </a:extLst>
          </p:cNvPr>
          <p:cNvSpPr txBox="1">
            <a:spLocks/>
          </p:cNvSpPr>
          <p:nvPr/>
        </p:nvSpPr>
        <p:spPr>
          <a:xfrm>
            <a:off x="133849" y="212488"/>
            <a:ext cx="6162230" cy="5137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t>Example Output</a:t>
            </a:r>
          </a:p>
        </p:txBody>
      </p:sp>
      <p:graphicFrame>
        <p:nvGraphicFramePr>
          <p:cNvPr id="6" name="Table 5">
            <a:extLst>
              <a:ext uri="{FF2B5EF4-FFF2-40B4-BE49-F238E27FC236}">
                <a16:creationId xmlns:a16="http://schemas.microsoft.com/office/drawing/2014/main" id="{F8580B5C-7215-C93B-AF6F-D5E652A9541A}"/>
              </a:ext>
            </a:extLst>
          </p:cNvPr>
          <p:cNvGraphicFramePr>
            <a:graphicFrameLocks noGrp="1"/>
          </p:cNvGraphicFramePr>
          <p:nvPr>
            <p:extLst>
              <p:ext uri="{D42A27DB-BD31-4B8C-83A1-F6EECF244321}">
                <p14:modId xmlns:p14="http://schemas.microsoft.com/office/powerpoint/2010/main" val="3551647809"/>
              </p:ext>
            </p:extLst>
          </p:nvPr>
        </p:nvGraphicFramePr>
        <p:xfrm>
          <a:off x="2408527" y="2011207"/>
          <a:ext cx="7775105" cy="3297392"/>
        </p:xfrm>
        <a:graphic>
          <a:graphicData uri="http://schemas.openxmlformats.org/drawingml/2006/table">
            <a:tbl>
              <a:tblPr>
                <a:tableStyleId>{7DF18680-E054-41AD-8BC1-D1AEF772440D}</a:tableStyleId>
              </a:tblPr>
              <a:tblGrid>
                <a:gridCol w="3944505">
                  <a:extLst>
                    <a:ext uri="{9D8B030D-6E8A-4147-A177-3AD203B41FA5}">
                      <a16:colId xmlns:a16="http://schemas.microsoft.com/office/drawing/2014/main" val="2641549852"/>
                    </a:ext>
                  </a:extLst>
                </a:gridCol>
                <a:gridCol w="3830600">
                  <a:extLst>
                    <a:ext uri="{9D8B030D-6E8A-4147-A177-3AD203B41FA5}">
                      <a16:colId xmlns:a16="http://schemas.microsoft.com/office/drawing/2014/main" val="2787746830"/>
                    </a:ext>
                  </a:extLst>
                </a:gridCol>
              </a:tblGrid>
              <a:tr h="824348">
                <a:tc>
                  <a:txBody>
                    <a:bodyPr/>
                    <a:lstStyle/>
                    <a:p>
                      <a:pPr algn="ctr" fontAlgn="base">
                        <a:lnSpc>
                          <a:spcPts val="1350"/>
                        </a:lnSpc>
                        <a:buNone/>
                      </a:pPr>
                      <a:r>
                        <a:rPr lang="en-US" sz="1800" b="1" i="0" dirty="0">
                          <a:solidFill>
                            <a:schemeClr val="tx1"/>
                          </a:solidFill>
                          <a:effectLst/>
                          <a:latin typeface="Aptos" panose="020B0004020202020204" pitchFamily="34" charset="0"/>
                        </a:rPr>
                        <a:t>Europe Netback</a:t>
                      </a:r>
                    </a:p>
                  </a:txBody>
                  <a:tcPr anchor="ctr"/>
                </a:tc>
                <a:tc>
                  <a:txBody>
                    <a:bodyPr/>
                    <a:lstStyle/>
                    <a:p>
                      <a:pPr algn="ctr" fontAlgn="base">
                        <a:lnSpc>
                          <a:spcPts val="1350"/>
                        </a:lnSpc>
                        <a:buNone/>
                      </a:pPr>
                      <a:r>
                        <a:rPr lang="en-US" sz="1800" b="0" i="0" dirty="0">
                          <a:solidFill>
                            <a:schemeClr val="tx1"/>
                          </a:solidFill>
                          <a:effectLst/>
                          <a:latin typeface="Aptos" panose="020B0004020202020204" pitchFamily="34" charset="0"/>
                        </a:rPr>
                        <a:t>$126.26 M</a:t>
                      </a:r>
                    </a:p>
                  </a:txBody>
                  <a:tcPr anchor="ctr"/>
                </a:tc>
                <a:extLst>
                  <a:ext uri="{0D108BD9-81ED-4DB2-BD59-A6C34878D82A}">
                    <a16:rowId xmlns:a16="http://schemas.microsoft.com/office/drawing/2014/main" val="579787313"/>
                  </a:ext>
                </a:extLst>
              </a:tr>
              <a:tr h="824348">
                <a:tc>
                  <a:txBody>
                    <a:bodyPr/>
                    <a:lstStyle/>
                    <a:p>
                      <a:pPr algn="ctr" fontAlgn="base">
                        <a:lnSpc>
                          <a:spcPts val="1350"/>
                        </a:lnSpc>
                        <a:buNone/>
                      </a:pPr>
                      <a:r>
                        <a:rPr lang="en-US" sz="1800" b="1" i="0" dirty="0">
                          <a:solidFill>
                            <a:schemeClr val="tx1"/>
                          </a:solidFill>
                          <a:effectLst/>
                          <a:latin typeface="Aptos" panose="020B0004020202020204" pitchFamily="34" charset="0"/>
                        </a:rPr>
                        <a:t>Asia Netback</a:t>
                      </a:r>
                    </a:p>
                  </a:txBody>
                  <a:tcPr anchor="ctr"/>
                </a:tc>
                <a:tc>
                  <a:txBody>
                    <a:bodyPr/>
                    <a:lstStyle/>
                    <a:p>
                      <a:pPr marL="0" marR="0" lvl="0" indent="0" algn="ctr" defTabSz="914400" rtl="0" eaLnBrk="1" fontAlgn="base" latinLnBrk="0" hangingPunct="1">
                        <a:lnSpc>
                          <a:spcPts val="1350"/>
                        </a:lnSpc>
                        <a:spcBef>
                          <a:spcPts val="0"/>
                        </a:spcBef>
                        <a:spcAft>
                          <a:spcPts val="0"/>
                        </a:spcAft>
                        <a:buClrTx/>
                        <a:buSzTx/>
                        <a:buFontTx/>
                        <a:buNone/>
                        <a:tabLst/>
                        <a:defRPr/>
                      </a:pPr>
                      <a:r>
                        <a:rPr lang="en-US" sz="1800" b="0" i="0" dirty="0">
                          <a:solidFill>
                            <a:schemeClr val="tx1"/>
                          </a:solidFill>
                          <a:effectLst/>
                          <a:latin typeface="Aptos" panose="020B0004020202020204" pitchFamily="34" charset="0"/>
                        </a:rPr>
                        <a:t>$133.96 M</a:t>
                      </a:r>
                    </a:p>
                  </a:txBody>
                  <a:tcPr anchor="ctr"/>
                </a:tc>
                <a:extLst>
                  <a:ext uri="{0D108BD9-81ED-4DB2-BD59-A6C34878D82A}">
                    <a16:rowId xmlns:a16="http://schemas.microsoft.com/office/drawing/2014/main" val="3237386274"/>
                  </a:ext>
                </a:extLst>
              </a:tr>
              <a:tr h="824348">
                <a:tc>
                  <a:txBody>
                    <a:bodyPr/>
                    <a:lstStyle/>
                    <a:p>
                      <a:pPr algn="ctr" fontAlgn="base">
                        <a:lnSpc>
                          <a:spcPts val="1350"/>
                        </a:lnSpc>
                        <a:buNone/>
                      </a:pPr>
                      <a:r>
                        <a:rPr lang="en-US" sz="1800" b="1" i="0" dirty="0">
                          <a:solidFill>
                            <a:schemeClr val="tx1"/>
                          </a:solidFill>
                          <a:effectLst/>
                          <a:latin typeface="Aptos" panose="020B0004020202020204" pitchFamily="34" charset="0"/>
                        </a:rPr>
                        <a:t>Adjusted Uplift</a:t>
                      </a:r>
                    </a:p>
                  </a:txBody>
                  <a:tcPr anchor="ctr"/>
                </a:tc>
                <a:tc>
                  <a:txBody>
                    <a:bodyPr/>
                    <a:lstStyle/>
                    <a:p>
                      <a:pPr algn="ctr" fontAlgn="base">
                        <a:lnSpc>
                          <a:spcPts val="1350"/>
                        </a:lnSpc>
                        <a:buNone/>
                      </a:pPr>
                      <a:r>
                        <a:rPr lang="en-US" sz="1800" b="0" i="0" dirty="0">
                          <a:solidFill>
                            <a:schemeClr val="tx1"/>
                          </a:solidFill>
                          <a:effectLst/>
                          <a:latin typeface="Aptos" panose="020B0004020202020204" pitchFamily="34" charset="0"/>
                        </a:rPr>
                        <a:t>$7.07 M</a:t>
                      </a:r>
                    </a:p>
                  </a:txBody>
                  <a:tcPr anchor="ctr"/>
                </a:tc>
                <a:extLst>
                  <a:ext uri="{0D108BD9-81ED-4DB2-BD59-A6C34878D82A}">
                    <a16:rowId xmlns:a16="http://schemas.microsoft.com/office/drawing/2014/main" val="4240212126"/>
                  </a:ext>
                </a:extLst>
              </a:tr>
              <a:tr h="824348">
                <a:tc>
                  <a:txBody>
                    <a:bodyPr/>
                    <a:lstStyle/>
                    <a:p>
                      <a:pPr algn="ctr" fontAlgn="base">
                        <a:lnSpc>
                          <a:spcPts val="1350"/>
                        </a:lnSpc>
                        <a:buNone/>
                      </a:pPr>
                      <a:r>
                        <a:rPr lang="en-US" sz="1800" b="1" i="0" dirty="0">
                          <a:solidFill>
                            <a:schemeClr val="tx1"/>
                          </a:solidFill>
                          <a:effectLst/>
                          <a:latin typeface="Aptos" panose="020B0004020202020204" pitchFamily="34" charset="0"/>
                        </a:rPr>
                        <a:t>Hedge</a:t>
                      </a:r>
                    </a:p>
                  </a:txBody>
                  <a:tcPr anchor="ctr"/>
                </a:tc>
                <a:tc>
                  <a:txBody>
                    <a:bodyPr/>
                    <a:lstStyle/>
                    <a:p>
                      <a:pPr algn="ctr" fontAlgn="base">
                        <a:lnSpc>
                          <a:spcPts val="1350"/>
                        </a:lnSpc>
                        <a:buNone/>
                      </a:pPr>
                      <a:r>
                        <a:rPr lang="en-US" sz="1800" b="0" i="0" dirty="0">
                          <a:solidFill>
                            <a:schemeClr val="tx1"/>
                          </a:solidFill>
                          <a:effectLst/>
                          <a:latin typeface="Aptos" panose="020B0004020202020204" pitchFamily="34" charset="0"/>
                        </a:rPr>
                        <a:t>BUY JKM 322 lots / SELL TTF 322 lots</a:t>
                      </a:r>
                    </a:p>
                  </a:txBody>
                  <a:tcPr anchor="ctr"/>
                </a:tc>
                <a:extLst>
                  <a:ext uri="{0D108BD9-81ED-4DB2-BD59-A6C34878D82A}">
                    <a16:rowId xmlns:a16="http://schemas.microsoft.com/office/drawing/2014/main" val="2434475554"/>
                  </a:ext>
                </a:extLst>
              </a:tr>
            </a:tbl>
          </a:graphicData>
        </a:graphic>
      </p:graphicFrame>
      <p:sp>
        <p:nvSpPr>
          <p:cNvPr id="7" name="Rectangle 1">
            <a:extLst>
              <a:ext uri="{FF2B5EF4-FFF2-40B4-BE49-F238E27FC236}">
                <a16:creationId xmlns:a16="http://schemas.microsoft.com/office/drawing/2014/main" id="{E0088F6A-D96F-BE74-FDE4-6766AD615895}"/>
              </a:ext>
            </a:extLst>
          </p:cNvPr>
          <p:cNvSpPr>
            <a:spLocks noChangeArrowheads="1"/>
          </p:cNvSpPr>
          <p:nvPr/>
        </p:nvSpPr>
        <p:spPr bwMode="auto">
          <a:xfrm>
            <a:off x="2214563" y="24786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webkit-standard"/>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Arrow: Chevron 1">
            <a:extLst>
              <a:ext uri="{FF2B5EF4-FFF2-40B4-BE49-F238E27FC236}">
                <a16:creationId xmlns:a16="http://schemas.microsoft.com/office/drawing/2014/main" id="{16837F93-982C-0500-2ED8-0A1F09EFC6F7}"/>
              </a:ext>
            </a:extLst>
          </p:cNvPr>
          <p:cNvSpPr/>
          <p:nvPr/>
        </p:nvSpPr>
        <p:spPr>
          <a:xfrm>
            <a:off x="2408527" y="884321"/>
            <a:ext cx="8039340" cy="1056451"/>
          </a:xfrm>
          <a:prstGeom prst="chevron">
            <a:avLst>
              <a:gd name="adj" fmla="val 27852"/>
            </a:avLst>
          </a:prstGeom>
          <a:solidFill>
            <a:srgbClr val="6464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rPr>
              <a:t>DIVERT TRIGGERED</a:t>
            </a:r>
            <a:endParaRPr lang="en-GB" sz="2400" b="1" dirty="0">
              <a:solidFill>
                <a:schemeClr val="bg1"/>
              </a:solidFill>
            </a:endParaRPr>
          </a:p>
        </p:txBody>
      </p:sp>
    </p:spTree>
    <p:extLst>
      <p:ext uri="{BB962C8B-B14F-4D97-AF65-F5344CB8AC3E}">
        <p14:creationId xmlns:p14="http://schemas.microsoft.com/office/powerpoint/2010/main" val="3954234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A5CF-189E-2934-337C-E5129F39BA35}"/>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F7C44F43-4819-CFBA-43F6-F18AF9CBD136}"/>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4371146B-869B-DE3E-FDD6-3E7AAC30E6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992D68E1-C5FA-BD4E-607A-836807653F7A}"/>
              </a:ext>
            </a:extLst>
          </p:cNvPr>
          <p:cNvSpPr txBox="1">
            <a:spLocks/>
          </p:cNvSpPr>
          <p:nvPr/>
        </p:nvSpPr>
        <p:spPr>
          <a:xfrm>
            <a:off x="7324491" y="3581400"/>
            <a:ext cx="4715110" cy="78793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600" dirty="0"/>
              <a:t>Decision Framework</a:t>
            </a:r>
          </a:p>
        </p:txBody>
      </p:sp>
      <p:sp>
        <p:nvSpPr>
          <p:cNvPr id="13" name="Text Placeholder 4">
            <a:extLst>
              <a:ext uri="{FF2B5EF4-FFF2-40B4-BE49-F238E27FC236}">
                <a16:creationId xmlns:a16="http://schemas.microsoft.com/office/drawing/2014/main" id="{A2716D60-7533-01B0-6E21-893AB9F4EF5E}"/>
              </a:ext>
            </a:extLst>
          </p:cNvPr>
          <p:cNvSpPr txBox="1">
            <a:spLocks/>
          </p:cNvSpPr>
          <p:nvPr/>
        </p:nvSpPr>
        <p:spPr>
          <a:xfrm>
            <a:off x="7619994"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2</a:t>
            </a:r>
          </a:p>
        </p:txBody>
      </p:sp>
    </p:spTree>
    <p:extLst>
      <p:ext uri="{BB962C8B-B14F-4D97-AF65-F5344CB8AC3E}">
        <p14:creationId xmlns:p14="http://schemas.microsoft.com/office/powerpoint/2010/main" val="1613819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8395A-4B36-7A24-D086-2879F96AC443}"/>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3AA4B97B-4D32-E8EB-8E32-D0CE31088A09}"/>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3903CE8A-9667-1119-E223-3135713C479D}"/>
              </a:ext>
            </a:extLst>
          </p:cNvPr>
          <p:cNvSpPr>
            <a:spLocks noChangeAspect="1" noChangeArrowheads="1"/>
          </p:cNvSpPr>
          <p:nvPr/>
        </p:nvSpPr>
        <p:spPr bwMode="auto">
          <a:xfrm>
            <a:off x="5672457" y="3177104"/>
            <a:ext cx="258993" cy="2589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rrow: Right 1">
            <a:extLst>
              <a:ext uri="{FF2B5EF4-FFF2-40B4-BE49-F238E27FC236}">
                <a16:creationId xmlns:a16="http://schemas.microsoft.com/office/drawing/2014/main" id="{8C0504B4-38A7-22B0-EA14-D280E1515C1F}"/>
              </a:ext>
            </a:extLst>
          </p:cNvPr>
          <p:cNvSpPr/>
          <p:nvPr/>
        </p:nvSpPr>
        <p:spPr>
          <a:xfrm>
            <a:off x="-59269" y="677335"/>
            <a:ext cx="10783229" cy="3944115"/>
          </a:xfrm>
          <a:prstGeom prst="rightArrow">
            <a:avLst>
              <a:gd name="adj1" fmla="val 42127"/>
              <a:gd name="adj2" fmla="val 51500"/>
            </a:avLst>
          </a:prstGeom>
          <a:gradFill>
            <a:gsLst>
              <a:gs pos="0">
                <a:schemeClr val="tx1">
                  <a:lumMod val="75000"/>
                  <a:lumOff val="25000"/>
                </a:schemeClr>
              </a:gs>
              <a:gs pos="74000">
                <a:schemeClr val="tx1">
                  <a:lumMod val="50000"/>
                  <a:lumOff val="50000"/>
                </a:schemeClr>
              </a:gs>
              <a:gs pos="83000">
                <a:schemeClr val="bg2">
                  <a:lumMod val="50000"/>
                </a:schemeClr>
              </a:gs>
              <a:gs pos="100000">
                <a:schemeClr val="accent3">
                  <a:lumMod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Oval 7">
            <a:extLst>
              <a:ext uri="{FF2B5EF4-FFF2-40B4-BE49-F238E27FC236}">
                <a16:creationId xmlns:a16="http://schemas.microsoft.com/office/drawing/2014/main" id="{A604A607-91C4-7B48-6DA6-BB790FFC26BC}"/>
              </a:ext>
            </a:extLst>
          </p:cNvPr>
          <p:cNvSpPr/>
          <p:nvPr/>
        </p:nvSpPr>
        <p:spPr>
          <a:xfrm>
            <a:off x="41541" y="2054298"/>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F2CBE162-48DB-94C4-71BD-474607B20D61}"/>
              </a:ext>
            </a:extLst>
          </p:cNvPr>
          <p:cNvSpPr/>
          <p:nvPr/>
        </p:nvSpPr>
        <p:spPr>
          <a:xfrm>
            <a:off x="307204" y="2337002"/>
            <a:ext cx="1635645"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0" name="Title 1">
            <a:extLst>
              <a:ext uri="{FF2B5EF4-FFF2-40B4-BE49-F238E27FC236}">
                <a16:creationId xmlns:a16="http://schemas.microsoft.com/office/drawing/2014/main" id="{FDD9B32F-B984-F133-252B-F639B737472A}"/>
              </a:ext>
            </a:extLst>
          </p:cNvPr>
          <p:cNvSpPr txBox="1">
            <a:spLocks/>
          </p:cNvSpPr>
          <p:nvPr/>
        </p:nvSpPr>
        <p:spPr>
          <a:xfrm>
            <a:off x="41541" y="321327"/>
            <a:ext cx="6650089" cy="45862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t>Decision Framework - Market Inputs</a:t>
            </a:r>
          </a:p>
        </p:txBody>
      </p:sp>
      <p:sp>
        <p:nvSpPr>
          <p:cNvPr id="18" name="AutoShape 2" descr="Image of power lines">
            <a:extLst>
              <a:ext uri="{FF2B5EF4-FFF2-40B4-BE49-F238E27FC236}">
                <a16:creationId xmlns:a16="http://schemas.microsoft.com/office/drawing/2014/main" id="{6D84FF2B-D6B3-A3CD-EDF1-A5E6540107EC}"/>
              </a:ext>
            </a:extLst>
          </p:cNvPr>
          <p:cNvSpPr>
            <a:spLocks noChangeAspect="1" noChangeArrowheads="1"/>
          </p:cNvSpPr>
          <p:nvPr/>
        </p:nvSpPr>
        <p:spPr bwMode="auto">
          <a:xfrm>
            <a:off x="9073708" y="538378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Oval 22">
            <a:extLst>
              <a:ext uri="{FF2B5EF4-FFF2-40B4-BE49-F238E27FC236}">
                <a16:creationId xmlns:a16="http://schemas.microsoft.com/office/drawing/2014/main" id="{58771D5C-13DA-56DD-3C88-6D817F5308E2}"/>
              </a:ext>
            </a:extLst>
          </p:cNvPr>
          <p:cNvSpPr/>
          <p:nvPr/>
        </p:nvSpPr>
        <p:spPr>
          <a:xfrm>
            <a:off x="2341959" y="2054298"/>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5BD3897E-E5B4-55FC-6229-FC228B7C4ADC}"/>
              </a:ext>
            </a:extLst>
          </p:cNvPr>
          <p:cNvSpPr/>
          <p:nvPr/>
        </p:nvSpPr>
        <p:spPr>
          <a:xfrm>
            <a:off x="2618225" y="2333361"/>
            <a:ext cx="1617749"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25" name="Oval 24">
            <a:extLst>
              <a:ext uri="{FF2B5EF4-FFF2-40B4-BE49-F238E27FC236}">
                <a16:creationId xmlns:a16="http://schemas.microsoft.com/office/drawing/2014/main" id="{5F56DAA9-892B-8E95-E467-A3506D8170AA}"/>
              </a:ext>
            </a:extLst>
          </p:cNvPr>
          <p:cNvSpPr/>
          <p:nvPr/>
        </p:nvSpPr>
        <p:spPr>
          <a:xfrm>
            <a:off x="4715327" y="2054298"/>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12112F53-DFAD-BC59-D586-4EB1F967A3CF}"/>
              </a:ext>
            </a:extLst>
          </p:cNvPr>
          <p:cNvSpPr/>
          <p:nvPr/>
        </p:nvSpPr>
        <p:spPr>
          <a:xfrm>
            <a:off x="4991593" y="2333361"/>
            <a:ext cx="1635645"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7A0A5CEF-CF22-FACF-6B31-8FD4C2588A11}"/>
              </a:ext>
            </a:extLst>
          </p:cNvPr>
          <p:cNvSpPr/>
          <p:nvPr/>
        </p:nvSpPr>
        <p:spPr>
          <a:xfrm>
            <a:off x="7099299" y="2054298"/>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1B5F3916-5F8A-532C-3B0B-684E2AB2545B}"/>
              </a:ext>
            </a:extLst>
          </p:cNvPr>
          <p:cNvSpPr/>
          <p:nvPr/>
        </p:nvSpPr>
        <p:spPr>
          <a:xfrm>
            <a:off x="7375565" y="2333361"/>
            <a:ext cx="1635645"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C0C26231-9EAD-2127-F323-967E58E183F9}"/>
              </a:ext>
            </a:extLst>
          </p:cNvPr>
          <p:cNvSpPr txBox="1"/>
          <p:nvPr/>
        </p:nvSpPr>
        <p:spPr>
          <a:xfrm>
            <a:off x="436079" y="2772690"/>
            <a:ext cx="1379609" cy="584775"/>
          </a:xfrm>
          <a:prstGeom prst="rect">
            <a:avLst/>
          </a:prstGeom>
          <a:noFill/>
        </p:spPr>
        <p:txBody>
          <a:bodyPr wrap="square" rtlCol="0">
            <a:spAutoFit/>
          </a:bodyPr>
          <a:lstStyle/>
          <a:p>
            <a:pPr algn="ctr"/>
            <a:r>
              <a:rPr lang="en-US" sz="1600" b="1" dirty="0"/>
              <a:t>Netback Model</a:t>
            </a:r>
          </a:p>
        </p:txBody>
      </p:sp>
      <p:sp>
        <p:nvSpPr>
          <p:cNvPr id="32" name="TextBox 31">
            <a:extLst>
              <a:ext uri="{FF2B5EF4-FFF2-40B4-BE49-F238E27FC236}">
                <a16:creationId xmlns:a16="http://schemas.microsoft.com/office/drawing/2014/main" id="{355971A7-C8BD-7210-B44C-AF95DD19D221}"/>
              </a:ext>
            </a:extLst>
          </p:cNvPr>
          <p:cNvSpPr txBox="1"/>
          <p:nvPr/>
        </p:nvSpPr>
        <p:spPr>
          <a:xfrm>
            <a:off x="2667374" y="2751521"/>
            <a:ext cx="1639199" cy="584775"/>
          </a:xfrm>
          <a:prstGeom prst="rect">
            <a:avLst/>
          </a:prstGeom>
          <a:noFill/>
        </p:spPr>
        <p:txBody>
          <a:bodyPr wrap="square" rtlCol="0">
            <a:spAutoFit/>
          </a:bodyPr>
          <a:lstStyle/>
          <a:p>
            <a:pPr algn="ctr"/>
            <a:r>
              <a:rPr lang="en-US" sz="1600" b="1" dirty="0"/>
              <a:t>Risk Adjustments</a:t>
            </a:r>
          </a:p>
        </p:txBody>
      </p:sp>
      <p:sp>
        <p:nvSpPr>
          <p:cNvPr id="33" name="TextBox 32">
            <a:extLst>
              <a:ext uri="{FF2B5EF4-FFF2-40B4-BE49-F238E27FC236}">
                <a16:creationId xmlns:a16="http://schemas.microsoft.com/office/drawing/2014/main" id="{C01705C1-8B4E-8A6A-E2D9-363C34EA14FE}"/>
              </a:ext>
            </a:extLst>
          </p:cNvPr>
          <p:cNvSpPr txBox="1"/>
          <p:nvPr/>
        </p:nvSpPr>
        <p:spPr>
          <a:xfrm>
            <a:off x="5245781" y="2778340"/>
            <a:ext cx="1170414" cy="584775"/>
          </a:xfrm>
          <a:prstGeom prst="rect">
            <a:avLst/>
          </a:prstGeom>
          <a:noFill/>
        </p:spPr>
        <p:txBody>
          <a:bodyPr wrap="square" rtlCol="0">
            <a:spAutoFit/>
          </a:bodyPr>
          <a:lstStyle/>
          <a:p>
            <a:pPr algn="ctr"/>
            <a:r>
              <a:rPr lang="en-US" sz="1600" b="1" dirty="0"/>
              <a:t>Decision Rule</a:t>
            </a:r>
          </a:p>
        </p:txBody>
      </p:sp>
      <p:sp>
        <p:nvSpPr>
          <p:cNvPr id="34" name="TextBox 33">
            <a:extLst>
              <a:ext uri="{FF2B5EF4-FFF2-40B4-BE49-F238E27FC236}">
                <a16:creationId xmlns:a16="http://schemas.microsoft.com/office/drawing/2014/main" id="{C2F180D2-946E-C998-2F5E-DBE186C80EC0}"/>
              </a:ext>
            </a:extLst>
          </p:cNvPr>
          <p:cNvSpPr txBox="1"/>
          <p:nvPr/>
        </p:nvSpPr>
        <p:spPr>
          <a:xfrm>
            <a:off x="7688711" y="2798985"/>
            <a:ext cx="1009351" cy="584775"/>
          </a:xfrm>
          <a:prstGeom prst="rect">
            <a:avLst/>
          </a:prstGeom>
          <a:noFill/>
        </p:spPr>
        <p:txBody>
          <a:bodyPr wrap="square" rtlCol="0">
            <a:spAutoFit/>
          </a:bodyPr>
          <a:lstStyle/>
          <a:p>
            <a:pPr algn="ctr"/>
            <a:r>
              <a:rPr lang="en-US" sz="1600" b="1" dirty="0"/>
              <a:t>Trade Ticket</a:t>
            </a:r>
          </a:p>
        </p:txBody>
      </p:sp>
      <p:sp>
        <p:nvSpPr>
          <p:cNvPr id="35" name="TextBox 34">
            <a:extLst>
              <a:ext uri="{FF2B5EF4-FFF2-40B4-BE49-F238E27FC236}">
                <a16:creationId xmlns:a16="http://schemas.microsoft.com/office/drawing/2014/main" id="{367183C0-2325-FDB5-7B17-316D9980F394}"/>
              </a:ext>
            </a:extLst>
          </p:cNvPr>
          <p:cNvSpPr txBox="1"/>
          <p:nvPr/>
        </p:nvSpPr>
        <p:spPr>
          <a:xfrm>
            <a:off x="328868" y="4650201"/>
            <a:ext cx="8651207"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t>Raw uplift = Asia netback – Europe netback</a:t>
            </a:r>
          </a:p>
          <a:p>
            <a:pPr marL="285750" indent="-285750">
              <a:buFont typeface="Arial" panose="020B0604020202020204" pitchFamily="34" charset="0"/>
              <a:buChar char="•"/>
            </a:pPr>
            <a:r>
              <a:rPr lang="en-US" sz="2000" dirty="0"/>
              <a:t>Basis haircut applied</a:t>
            </a:r>
          </a:p>
          <a:p>
            <a:pPr marL="285750" indent="-285750">
              <a:buFont typeface="Arial" panose="020B0604020202020204" pitchFamily="34" charset="0"/>
              <a:buChar char="•"/>
            </a:pPr>
            <a:r>
              <a:rPr lang="en-US" sz="2000" dirty="0"/>
              <a:t>Operational buffer deducted</a:t>
            </a:r>
          </a:p>
          <a:p>
            <a:pPr marL="285750" indent="-285750">
              <a:buFont typeface="Arial" panose="020B0604020202020204" pitchFamily="34" charset="0"/>
              <a:buChar char="•"/>
            </a:pPr>
            <a:r>
              <a:rPr lang="en-US" sz="2000" dirty="0"/>
              <a:t>Decision triggered only above threshold.</a:t>
            </a:r>
          </a:p>
        </p:txBody>
      </p:sp>
    </p:spTree>
    <p:extLst>
      <p:ext uri="{BB962C8B-B14F-4D97-AF65-F5344CB8AC3E}">
        <p14:creationId xmlns:p14="http://schemas.microsoft.com/office/powerpoint/2010/main" val="1116407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65CE-9AB7-A7E4-37FC-30BCA81B3D6D}"/>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2B544E9E-69D7-9417-3F15-EBC7F5682B1A}"/>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E827B202-E7F5-4F1B-076A-CB20A3AFEB1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B075CBFF-72AC-D169-B876-BFCB98264A78}"/>
              </a:ext>
            </a:extLst>
          </p:cNvPr>
          <p:cNvSpPr txBox="1">
            <a:spLocks/>
          </p:cNvSpPr>
          <p:nvPr/>
        </p:nvSpPr>
        <p:spPr>
          <a:xfrm>
            <a:off x="7324491" y="3581400"/>
            <a:ext cx="4715110" cy="78793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600" dirty="0"/>
              <a:t>Netback Methodology</a:t>
            </a:r>
          </a:p>
        </p:txBody>
      </p:sp>
      <p:sp>
        <p:nvSpPr>
          <p:cNvPr id="13" name="Text Placeholder 4">
            <a:extLst>
              <a:ext uri="{FF2B5EF4-FFF2-40B4-BE49-F238E27FC236}">
                <a16:creationId xmlns:a16="http://schemas.microsoft.com/office/drawing/2014/main" id="{E404DB19-F2D6-BC86-3661-BA1E888B541A}"/>
              </a:ext>
            </a:extLst>
          </p:cNvPr>
          <p:cNvSpPr txBox="1">
            <a:spLocks/>
          </p:cNvSpPr>
          <p:nvPr/>
        </p:nvSpPr>
        <p:spPr>
          <a:xfrm>
            <a:off x="7619994"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3</a:t>
            </a:r>
          </a:p>
        </p:txBody>
      </p:sp>
    </p:spTree>
    <p:extLst>
      <p:ext uri="{BB962C8B-B14F-4D97-AF65-F5344CB8AC3E}">
        <p14:creationId xmlns:p14="http://schemas.microsoft.com/office/powerpoint/2010/main" val="2117661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E8B17-FF32-9DC3-6693-39BE24BE9A49}"/>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08441A26-D540-549C-3629-C21D5D57736D}"/>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9AD8E61F-2BD5-7B3A-985E-F440C4B957A8}"/>
              </a:ext>
            </a:extLst>
          </p:cNvPr>
          <p:cNvSpPr>
            <a:spLocks noChangeAspect="1" noChangeArrowheads="1"/>
          </p:cNvSpPr>
          <p:nvPr/>
        </p:nvSpPr>
        <p:spPr bwMode="auto">
          <a:xfrm>
            <a:off x="5808128" y="388620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FBBEBA32-2627-FE06-BF6F-08BAF37AB792}"/>
              </a:ext>
            </a:extLst>
          </p:cNvPr>
          <p:cNvSpPr txBox="1"/>
          <p:nvPr/>
        </p:nvSpPr>
        <p:spPr>
          <a:xfrm>
            <a:off x="257298" y="131218"/>
            <a:ext cx="7629993" cy="584775"/>
          </a:xfrm>
          <a:prstGeom prst="rect">
            <a:avLst/>
          </a:prstGeom>
          <a:noFill/>
        </p:spPr>
        <p:txBody>
          <a:bodyPr wrap="square" rtlCol="0">
            <a:spAutoFit/>
          </a:bodyPr>
          <a:lstStyle/>
          <a:p>
            <a:r>
              <a:rPr lang="en-GB" sz="3200" b="1" dirty="0"/>
              <a:t>Netback Calculation Logic</a:t>
            </a:r>
          </a:p>
        </p:txBody>
      </p:sp>
      <p:sp>
        <p:nvSpPr>
          <p:cNvPr id="12" name="TextBox 11">
            <a:extLst>
              <a:ext uri="{FF2B5EF4-FFF2-40B4-BE49-F238E27FC236}">
                <a16:creationId xmlns:a16="http://schemas.microsoft.com/office/drawing/2014/main" id="{3EE8A940-F590-4C11-BC6A-4BA33F856171}"/>
              </a:ext>
            </a:extLst>
          </p:cNvPr>
          <p:cNvSpPr txBox="1"/>
          <p:nvPr/>
        </p:nvSpPr>
        <p:spPr>
          <a:xfrm>
            <a:off x="515606" y="4184326"/>
            <a:ext cx="9742206"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t>Distance               Voyage time</a:t>
            </a:r>
          </a:p>
          <a:p>
            <a:pPr marL="342900" indent="-342900">
              <a:buFont typeface="Arial" panose="020B0604020202020204" pitchFamily="34" charset="0"/>
              <a:buChar char="•"/>
            </a:pPr>
            <a:r>
              <a:rPr lang="en-US" sz="2000" dirty="0"/>
              <a:t>Revenue = Destination Price x Delivered LNG Energy</a:t>
            </a:r>
          </a:p>
          <a:p>
            <a:pPr marL="342900" indent="-342900">
              <a:buFont typeface="Arial" panose="020B0604020202020204" pitchFamily="34" charset="0"/>
              <a:buChar char="•"/>
            </a:pPr>
            <a:r>
              <a:rPr lang="en-US" sz="2000" dirty="0"/>
              <a:t>Fuel consumption</a:t>
            </a:r>
          </a:p>
          <a:p>
            <a:pPr marL="342900" indent="-342900">
              <a:buFont typeface="Arial" panose="020B0604020202020204" pitchFamily="34" charset="0"/>
              <a:buChar char="•"/>
            </a:pPr>
            <a:r>
              <a:rPr lang="en-US" sz="2000" dirty="0"/>
              <a:t>Boil-off adjustment</a:t>
            </a:r>
          </a:p>
          <a:p>
            <a:pPr marL="342900" indent="-342900">
              <a:buFont typeface="Arial" panose="020B0604020202020204" pitchFamily="34" charset="0"/>
              <a:buChar char="•"/>
            </a:pPr>
            <a:r>
              <a:rPr lang="en-US" sz="2000" dirty="0"/>
              <a:t>EUA exposure</a:t>
            </a:r>
          </a:p>
          <a:p>
            <a:pPr marL="342900" indent="-342900">
              <a:buFont typeface="Arial" panose="020B0604020202020204" pitchFamily="34" charset="0"/>
              <a:buChar char="•"/>
            </a:pPr>
            <a:r>
              <a:rPr lang="en-US" sz="2000" dirty="0"/>
              <a:t>Delivered energy</a:t>
            </a:r>
          </a:p>
        </p:txBody>
      </p:sp>
      <p:sp>
        <p:nvSpPr>
          <p:cNvPr id="6" name="AutoShape 2" descr="Image of power lines">
            <a:extLst>
              <a:ext uri="{FF2B5EF4-FFF2-40B4-BE49-F238E27FC236}">
                <a16:creationId xmlns:a16="http://schemas.microsoft.com/office/drawing/2014/main" id="{23B820AF-A56D-61CD-8ABA-DD2317B975EB}"/>
              </a:ext>
            </a:extLst>
          </p:cNvPr>
          <p:cNvSpPr>
            <a:spLocks noChangeAspect="1" noChangeArrowheads="1"/>
          </p:cNvSpPr>
          <p:nvPr/>
        </p:nvSpPr>
        <p:spPr bwMode="auto">
          <a:xfrm>
            <a:off x="5701535" y="3084511"/>
            <a:ext cx="258993" cy="2589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Oval 8">
            <a:extLst>
              <a:ext uri="{FF2B5EF4-FFF2-40B4-BE49-F238E27FC236}">
                <a16:creationId xmlns:a16="http://schemas.microsoft.com/office/drawing/2014/main" id="{D7A57248-578F-624B-7355-546BD02B3A46}"/>
              </a:ext>
            </a:extLst>
          </p:cNvPr>
          <p:cNvSpPr/>
          <p:nvPr/>
        </p:nvSpPr>
        <p:spPr>
          <a:xfrm>
            <a:off x="380134" y="1506374"/>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835F7E3-843E-FDCC-8176-ED08A3E045BE}"/>
              </a:ext>
            </a:extLst>
          </p:cNvPr>
          <p:cNvSpPr/>
          <p:nvPr/>
        </p:nvSpPr>
        <p:spPr>
          <a:xfrm>
            <a:off x="656400" y="1785437"/>
            <a:ext cx="1617749"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5" name="TextBox 14">
            <a:extLst>
              <a:ext uri="{FF2B5EF4-FFF2-40B4-BE49-F238E27FC236}">
                <a16:creationId xmlns:a16="http://schemas.microsoft.com/office/drawing/2014/main" id="{7EEDC15B-AAAA-35AF-3070-EAD64F416FA6}"/>
              </a:ext>
            </a:extLst>
          </p:cNvPr>
          <p:cNvSpPr txBox="1"/>
          <p:nvPr/>
        </p:nvSpPr>
        <p:spPr>
          <a:xfrm>
            <a:off x="961511" y="2371425"/>
            <a:ext cx="1639199" cy="338554"/>
          </a:xfrm>
          <a:prstGeom prst="rect">
            <a:avLst/>
          </a:prstGeom>
          <a:noFill/>
        </p:spPr>
        <p:txBody>
          <a:bodyPr wrap="square" rtlCol="0">
            <a:spAutoFit/>
          </a:bodyPr>
          <a:lstStyle/>
          <a:p>
            <a:r>
              <a:rPr lang="en-US" sz="1600" b="1" dirty="0"/>
              <a:t>Netback</a:t>
            </a:r>
          </a:p>
        </p:txBody>
      </p:sp>
      <p:sp>
        <p:nvSpPr>
          <p:cNvPr id="16" name="Oval 15">
            <a:extLst>
              <a:ext uri="{FF2B5EF4-FFF2-40B4-BE49-F238E27FC236}">
                <a16:creationId xmlns:a16="http://schemas.microsoft.com/office/drawing/2014/main" id="{F6211E45-F63B-F14C-9A39-DDA752EF63C7}"/>
              </a:ext>
            </a:extLst>
          </p:cNvPr>
          <p:cNvSpPr/>
          <p:nvPr/>
        </p:nvSpPr>
        <p:spPr>
          <a:xfrm>
            <a:off x="3772350" y="1503627"/>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F9C76943-35B5-7430-E125-CFAD994C3FA8}"/>
              </a:ext>
            </a:extLst>
          </p:cNvPr>
          <p:cNvSpPr/>
          <p:nvPr/>
        </p:nvSpPr>
        <p:spPr>
          <a:xfrm>
            <a:off x="4048616" y="1782690"/>
            <a:ext cx="1617749"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9" name="Oval 18">
            <a:extLst>
              <a:ext uri="{FF2B5EF4-FFF2-40B4-BE49-F238E27FC236}">
                <a16:creationId xmlns:a16="http://schemas.microsoft.com/office/drawing/2014/main" id="{3B96A8DC-9C63-27BE-43F9-80941E0C259F}"/>
              </a:ext>
            </a:extLst>
          </p:cNvPr>
          <p:cNvSpPr/>
          <p:nvPr/>
        </p:nvSpPr>
        <p:spPr>
          <a:xfrm>
            <a:off x="6690343" y="1503627"/>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1BE655D9-5C3D-9E06-1B23-6EB8D43F62E4}"/>
              </a:ext>
            </a:extLst>
          </p:cNvPr>
          <p:cNvSpPr/>
          <p:nvPr/>
        </p:nvSpPr>
        <p:spPr>
          <a:xfrm>
            <a:off x="6966609" y="1782690"/>
            <a:ext cx="1617749"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22" name="Oval 21">
            <a:extLst>
              <a:ext uri="{FF2B5EF4-FFF2-40B4-BE49-F238E27FC236}">
                <a16:creationId xmlns:a16="http://schemas.microsoft.com/office/drawing/2014/main" id="{1483E719-1BE6-C96B-0DFB-D9179D9A373A}"/>
              </a:ext>
            </a:extLst>
          </p:cNvPr>
          <p:cNvSpPr/>
          <p:nvPr/>
        </p:nvSpPr>
        <p:spPr>
          <a:xfrm>
            <a:off x="9683115" y="1503627"/>
            <a:ext cx="2188178" cy="207415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517F5824-22BA-CFFC-7932-B1187FF7C186}"/>
              </a:ext>
            </a:extLst>
          </p:cNvPr>
          <p:cNvSpPr/>
          <p:nvPr/>
        </p:nvSpPr>
        <p:spPr>
          <a:xfrm>
            <a:off x="9959381" y="1782690"/>
            <a:ext cx="1617749" cy="15160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25" name="Equals 24">
            <a:extLst>
              <a:ext uri="{FF2B5EF4-FFF2-40B4-BE49-F238E27FC236}">
                <a16:creationId xmlns:a16="http://schemas.microsoft.com/office/drawing/2014/main" id="{09073005-285C-D8D9-2951-3D4D66F17B49}"/>
              </a:ext>
            </a:extLst>
          </p:cNvPr>
          <p:cNvSpPr/>
          <p:nvPr/>
        </p:nvSpPr>
        <p:spPr>
          <a:xfrm>
            <a:off x="2775476" y="2239479"/>
            <a:ext cx="789709" cy="526473"/>
          </a:xfrm>
          <a:prstGeom prst="mathEqual">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Minus 25">
            <a:extLst>
              <a:ext uri="{FF2B5EF4-FFF2-40B4-BE49-F238E27FC236}">
                <a16:creationId xmlns:a16="http://schemas.microsoft.com/office/drawing/2014/main" id="{AD5F1A6D-33A0-2E79-F0A7-96C4C8F45FF7}"/>
              </a:ext>
            </a:extLst>
          </p:cNvPr>
          <p:cNvSpPr/>
          <p:nvPr/>
        </p:nvSpPr>
        <p:spPr>
          <a:xfrm>
            <a:off x="5976505" y="2239479"/>
            <a:ext cx="734291" cy="526473"/>
          </a:xfrm>
          <a:prstGeom prst="mathMinus">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Minus 26">
            <a:extLst>
              <a:ext uri="{FF2B5EF4-FFF2-40B4-BE49-F238E27FC236}">
                <a16:creationId xmlns:a16="http://schemas.microsoft.com/office/drawing/2014/main" id="{D979DC99-1EF7-148C-FB56-8CC7F1E83484}"/>
              </a:ext>
            </a:extLst>
          </p:cNvPr>
          <p:cNvSpPr/>
          <p:nvPr/>
        </p:nvSpPr>
        <p:spPr>
          <a:xfrm>
            <a:off x="8943318" y="2239478"/>
            <a:ext cx="734291" cy="526473"/>
          </a:xfrm>
          <a:prstGeom prst="mathMinus">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3D8D150-0FB9-2004-89FA-7820E0ADD20C}"/>
              </a:ext>
            </a:extLst>
          </p:cNvPr>
          <p:cNvSpPr txBox="1"/>
          <p:nvPr/>
        </p:nvSpPr>
        <p:spPr>
          <a:xfrm>
            <a:off x="4353727" y="2355109"/>
            <a:ext cx="1639199" cy="338554"/>
          </a:xfrm>
          <a:prstGeom prst="rect">
            <a:avLst/>
          </a:prstGeom>
          <a:noFill/>
        </p:spPr>
        <p:txBody>
          <a:bodyPr wrap="square" rtlCol="0">
            <a:spAutoFit/>
          </a:bodyPr>
          <a:lstStyle/>
          <a:p>
            <a:r>
              <a:rPr lang="en-US" sz="1600" b="1" dirty="0"/>
              <a:t>Revenue</a:t>
            </a:r>
          </a:p>
        </p:txBody>
      </p:sp>
      <p:sp>
        <p:nvSpPr>
          <p:cNvPr id="29" name="TextBox 28">
            <a:extLst>
              <a:ext uri="{FF2B5EF4-FFF2-40B4-BE49-F238E27FC236}">
                <a16:creationId xmlns:a16="http://schemas.microsoft.com/office/drawing/2014/main" id="{EFD50225-038C-BD6A-6121-21837147EFE1}"/>
              </a:ext>
            </a:extLst>
          </p:cNvPr>
          <p:cNvSpPr txBox="1"/>
          <p:nvPr/>
        </p:nvSpPr>
        <p:spPr>
          <a:xfrm>
            <a:off x="7086184" y="2368924"/>
            <a:ext cx="1639199" cy="338554"/>
          </a:xfrm>
          <a:prstGeom prst="rect">
            <a:avLst/>
          </a:prstGeom>
          <a:noFill/>
        </p:spPr>
        <p:txBody>
          <a:bodyPr wrap="square" rtlCol="0">
            <a:spAutoFit/>
          </a:bodyPr>
          <a:lstStyle/>
          <a:p>
            <a:r>
              <a:rPr lang="en-US" sz="1600" b="1" dirty="0"/>
              <a:t>Voyage Costs</a:t>
            </a:r>
          </a:p>
        </p:txBody>
      </p:sp>
      <p:sp>
        <p:nvSpPr>
          <p:cNvPr id="30" name="TextBox 29">
            <a:extLst>
              <a:ext uri="{FF2B5EF4-FFF2-40B4-BE49-F238E27FC236}">
                <a16:creationId xmlns:a16="http://schemas.microsoft.com/office/drawing/2014/main" id="{00C794D3-EE1F-AFFA-90B0-EC87C11F8BE5}"/>
              </a:ext>
            </a:extLst>
          </p:cNvPr>
          <p:cNvSpPr txBox="1"/>
          <p:nvPr/>
        </p:nvSpPr>
        <p:spPr>
          <a:xfrm>
            <a:off x="10085012" y="2368924"/>
            <a:ext cx="1639199" cy="338554"/>
          </a:xfrm>
          <a:prstGeom prst="rect">
            <a:avLst/>
          </a:prstGeom>
          <a:noFill/>
        </p:spPr>
        <p:txBody>
          <a:bodyPr wrap="square" rtlCol="0">
            <a:spAutoFit/>
          </a:bodyPr>
          <a:lstStyle/>
          <a:p>
            <a:r>
              <a:rPr lang="en-US" sz="1600" b="1" dirty="0"/>
              <a:t>Carbon Costs</a:t>
            </a:r>
          </a:p>
        </p:txBody>
      </p:sp>
      <p:sp>
        <p:nvSpPr>
          <p:cNvPr id="31" name="Right Arrow 30">
            <a:extLst>
              <a:ext uri="{FF2B5EF4-FFF2-40B4-BE49-F238E27FC236}">
                <a16:creationId xmlns:a16="http://schemas.microsoft.com/office/drawing/2014/main" id="{54567349-5366-ADB6-79DE-ADF37824F9E5}"/>
              </a:ext>
            </a:extLst>
          </p:cNvPr>
          <p:cNvSpPr/>
          <p:nvPr/>
        </p:nvSpPr>
        <p:spPr>
          <a:xfrm>
            <a:off x="2001378" y="4323679"/>
            <a:ext cx="639088" cy="14190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6228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42371-8803-BCED-5A15-88DB12D5FC15}"/>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AE488631-2A4E-967F-8192-D4E110DCA2C0}"/>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FDA3E42B-34C4-D744-D5A9-1A385E2EBA0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83A7198C-0518-843F-9D37-AF7F8A4435A8}"/>
              </a:ext>
            </a:extLst>
          </p:cNvPr>
          <p:cNvSpPr txBox="1">
            <a:spLocks/>
          </p:cNvSpPr>
          <p:nvPr/>
        </p:nvSpPr>
        <p:spPr>
          <a:xfrm>
            <a:off x="6702627" y="3649133"/>
            <a:ext cx="5396240" cy="78793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600" dirty="0"/>
              <a:t>Example Diversion Decision</a:t>
            </a:r>
          </a:p>
        </p:txBody>
      </p:sp>
      <p:sp>
        <p:nvSpPr>
          <p:cNvPr id="13" name="Text Placeholder 4">
            <a:extLst>
              <a:ext uri="{FF2B5EF4-FFF2-40B4-BE49-F238E27FC236}">
                <a16:creationId xmlns:a16="http://schemas.microsoft.com/office/drawing/2014/main" id="{1CC94A04-8C59-BF61-B4B6-7FE227778296}"/>
              </a:ext>
            </a:extLst>
          </p:cNvPr>
          <p:cNvSpPr txBox="1">
            <a:spLocks/>
          </p:cNvSpPr>
          <p:nvPr/>
        </p:nvSpPr>
        <p:spPr>
          <a:xfrm>
            <a:off x="7052727"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4</a:t>
            </a:r>
          </a:p>
        </p:txBody>
      </p:sp>
    </p:spTree>
    <p:extLst>
      <p:ext uri="{BB962C8B-B14F-4D97-AF65-F5344CB8AC3E}">
        <p14:creationId xmlns:p14="http://schemas.microsoft.com/office/powerpoint/2010/main" val="4095346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2421A-5360-6E0F-85D8-B98DAB0E6C01}"/>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ABED89B3-619F-B444-21B9-8D357D08F20D}"/>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89608B9D-5E63-791A-EB7A-EB36286AF2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E10F4DDD-CCA0-0353-3A5E-F06E907200A0}"/>
              </a:ext>
            </a:extLst>
          </p:cNvPr>
          <p:cNvSpPr txBox="1"/>
          <p:nvPr/>
        </p:nvSpPr>
        <p:spPr>
          <a:xfrm>
            <a:off x="310805" y="131218"/>
            <a:ext cx="7629993" cy="584775"/>
          </a:xfrm>
          <a:prstGeom prst="rect">
            <a:avLst/>
          </a:prstGeom>
          <a:noFill/>
        </p:spPr>
        <p:txBody>
          <a:bodyPr wrap="square" rtlCol="0">
            <a:spAutoFit/>
          </a:bodyPr>
          <a:lstStyle/>
          <a:p>
            <a:r>
              <a:rPr lang="en-GB" sz="3200" b="1" dirty="0"/>
              <a:t>Example Trade Output</a:t>
            </a:r>
          </a:p>
        </p:txBody>
      </p:sp>
      <p:pic>
        <p:nvPicPr>
          <p:cNvPr id="3" name="Picture 2">
            <a:extLst>
              <a:ext uri="{FF2B5EF4-FFF2-40B4-BE49-F238E27FC236}">
                <a16:creationId xmlns:a16="http://schemas.microsoft.com/office/drawing/2014/main" id="{8416E3C8-370F-4BFE-11C3-65FC36945EC7}"/>
              </a:ext>
            </a:extLst>
          </p:cNvPr>
          <p:cNvPicPr>
            <a:picLocks noChangeAspect="1"/>
          </p:cNvPicPr>
          <p:nvPr/>
        </p:nvPicPr>
        <p:blipFill>
          <a:blip r:embed="rId3"/>
          <a:stretch>
            <a:fillRect/>
          </a:stretch>
        </p:blipFill>
        <p:spPr>
          <a:xfrm>
            <a:off x="5063359" y="1148071"/>
            <a:ext cx="6852449" cy="5222352"/>
          </a:xfrm>
          <a:prstGeom prst="rect">
            <a:avLst/>
          </a:prstGeom>
        </p:spPr>
      </p:pic>
      <p:sp>
        <p:nvSpPr>
          <p:cNvPr id="6" name="TextBox 5">
            <a:extLst>
              <a:ext uri="{FF2B5EF4-FFF2-40B4-BE49-F238E27FC236}">
                <a16:creationId xmlns:a16="http://schemas.microsoft.com/office/drawing/2014/main" id="{898BEDF5-C346-96DE-D5D2-A8614796429A}"/>
              </a:ext>
            </a:extLst>
          </p:cNvPr>
          <p:cNvSpPr txBox="1"/>
          <p:nvPr/>
        </p:nvSpPr>
        <p:spPr>
          <a:xfrm>
            <a:off x="457200" y="1148071"/>
            <a:ext cx="4030133" cy="1938992"/>
          </a:xfrm>
          <a:prstGeom prst="rect">
            <a:avLst/>
          </a:prstGeom>
          <a:noFill/>
        </p:spPr>
        <p:txBody>
          <a:bodyPr wrap="square" rtlCol="0">
            <a:spAutoFit/>
          </a:bodyPr>
          <a:lstStyle/>
          <a:p>
            <a:pPr marL="514350" indent="-514350">
              <a:buFont typeface="+mj-lt"/>
              <a:buAutoNum type="arabicPeriod"/>
            </a:pPr>
            <a:r>
              <a:rPr lang="en-US" sz="2400" dirty="0"/>
              <a:t>Clear decision</a:t>
            </a:r>
          </a:p>
          <a:p>
            <a:pPr marL="514350" indent="-514350">
              <a:buFont typeface="+mj-lt"/>
              <a:buAutoNum type="arabicPeriod"/>
            </a:pPr>
            <a:endParaRPr lang="en-US" sz="2400" dirty="0"/>
          </a:p>
          <a:p>
            <a:pPr marL="514350" indent="-514350">
              <a:buFont typeface="+mj-lt"/>
              <a:buAutoNum type="arabicPeriod"/>
            </a:pPr>
            <a:r>
              <a:rPr lang="en-US" sz="2400" dirty="0"/>
              <a:t>Hedge sizing</a:t>
            </a:r>
          </a:p>
          <a:p>
            <a:pPr marL="514350" indent="-514350">
              <a:buFont typeface="+mj-lt"/>
              <a:buAutoNum type="arabicPeriod"/>
            </a:pPr>
            <a:endParaRPr lang="en-US" sz="2400" dirty="0"/>
          </a:p>
          <a:p>
            <a:pPr marL="514350" indent="-514350">
              <a:buFont typeface="+mj-lt"/>
              <a:buAutoNum type="arabicPeriod"/>
            </a:pPr>
            <a:r>
              <a:rPr lang="en-US" sz="2400" dirty="0"/>
              <a:t>Adjusted uplift logic</a:t>
            </a:r>
          </a:p>
        </p:txBody>
      </p:sp>
    </p:spTree>
    <p:extLst>
      <p:ext uri="{BB962C8B-B14F-4D97-AF65-F5344CB8AC3E}">
        <p14:creationId xmlns:p14="http://schemas.microsoft.com/office/powerpoint/2010/main" val="465687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41458-0618-4582-6DD3-53035B034028}"/>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0C82FAF9-272D-A64E-9997-7DF872334C33}"/>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4F226215-A2B6-D607-1460-BB72D016E0B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39C2B9CC-72B3-70F7-6CA3-EF019106F156}"/>
              </a:ext>
            </a:extLst>
          </p:cNvPr>
          <p:cNvSpPr txBox="1"/>
          <p:nvPr/>
        </p:nvSpPr>
        <p:spPr>
          <a:xfrm>
            <a:off x="310805" y="131218"/>
            <a:ext cx="10551928" cy="584775"/>
          </a:xfrm>
          <a:prstGeom prst="rect">
            <a:avLst/>
          </a:prstGeom>
          <a:noFill/>
        </p:spPr>
        <p:txBody>
          <a:bodyPr wrap="square" rtlCol="0">
            <a:spAutoFit/>
          </a:bodyPr>
          <a:lstStyle/>
          <a:p>
            <a:r>
              <a:rPr lang="en-GB" sz="3200" b="1" dirty="0"/>
              <a:t>Terminal Dashboard - LNG Diversion Engine</a:t>
            </a:r>
          </a:p>
        </p:txBody>
      </p:sp>
      <p:sp>
        <p:nvSpPr>
          <p:cNvPr id="6" name="TextBox 5">
            <a:extLst>
              <a:ext uri="{FF2B5EF4-FFF2-40B4-BE49-F238E27FC236}">
                <a16:creationId xmlns:a16="http://schemas.microsoft.com/office/drawing/2014/main" id="{94AEF122-D2A9-9F8C-1A4B-1DAC3005954E}"/>
              </a:ext>
            </a:extLst>
          </p:cNvPr>
          <p:cNvSpPr txBox="1"/>
          <p:nvPr/>
        </p:nvSpPr>
        <p:spPr>
          <a:xfrm>
            <a:off x="243072" y="1427761"/>
            <a:ext cx="3143595" cy="3477875"/>
          </a:xfrm>
          <a:prstGeom prst="rect">
            <a:avLst/>
          </a:prstGeom>
          <a:noFill/>
        </p:spPr>
        <p:txBody>
          <a:bodyPr wrap="square" rtlCol="0">
            <a:spAutoFit/>
          </a:bodyPr>
          <a:lstStyle/>
          <a:p>
            <a:pPr marL="457200" indent="-457200">
              <a:buFont typeface="+mj-lt"/>
              <a:buAutoNum type="arabicPeriod"/>
            </a:pPr>
            <a:r>
              <a:rPr lang="en-US" sz="2200" dirty="0"/>
              <a:t>Route: US Gulf to </a:t>
            </a:r>
            <a:br>
              <a:rPr lang="en-US" sz="2200" dirty="0"/>
            </a:br>
            <a:r>
              <a:rPr lang="en-US" sz="2200" dirty="0"/>
              <a:t>Rotterdam vs Tokyo</a:t>
            </a:r>
          </a:p>
          <a:p>
            <a:pPr marL="457200" indent="-457200">
              <a:buFont typeface="+mj-lt"/>
              <a:buAutoNum type="arabicPeriod"/>
            </a:pPr>
            <a:endParaRPr lang="en-US" sz="2200" dirty="0"/>
          </a:p>
          <a:p>
            <a:pPr marL="457200" indent="-457200">
              <a:buFont typeface="+mj-lt"/>
              <a:buAutoNum type="arabicPeriod"/>
            </a:pPr>
            <a:r>
              <a:rPr lang="en-US" sz="2200" dirty="0"/>
              <a:t>Adjusted uplift: $7.06M</a:t>
            </a:r>
          </a:p>
          <a:p>
            <a:pPr marL="457200" indent="-457200">
              <a:buFont typeface="+mj-lt"/>
              <a:buAutoNum type="arabicPeriod"/>
            </a:pPr>
            <a:endParaRPr lang="en-US" sz="2200" dirty="0"/>
          </a:p>
          <a:p>
            <a:pPr marL="457200" indent="-457200">
              <a:buFont typeface="+mj-lt"/>
              <a:buAutoNum type="arabicPeriod"/>
            </a:pPr>
            <a:r>
              <a:rPr lang="en-US" sz="2200" dirty="0"/>
              <a:t>Decision: DIVERT</a:t>
            </a:r>
            <a:br>
              <a:rPr lang="en-US" sz="2200" dirty="0"/>
            </a:br>
            <a:endParaRPr lang="en-US" sz="2200" dirty="0"/>
          </a:p>
          <a:p>
            <a:pPr marL="457200" indent="-457200">
              <a:buFont typeface="+mj-lt"/>
              <a:buAutoNum type="arabicPeriod"/>
            </a:pPr>
            <a:r>
              <a:rPr lang="en-US" sz="2200" dirty="0"/>
              <a:t>Hedge: BUY JKM / SELL TTF</a:t>
            </a:r>
          </a:p>
        </p:txBody>
      </p:sp>
      <p:pic>
        <p:nvPicPr>
          <p:cNvPr id="2" name="Picture 1">
            <a:extLst>
              <a:ext uri="{FF2B5EF4-FFF2-40B4-BE49-F238E27FC236}">
                <a16:creationId xmlns:a16="http://schemas.microsoft.com/office/drawing/2014/main" id="{19747738-7147-E358-A7FC-988005C9E911}"/>
              </a:ext>
            </a:extLst>
          </p:cNvPr>
          <p:cNvPicPr>
            <a:picLocks noChangeAspect="1"/>
          </p:cNvPicPr>
          <p:nvPr/>
        </p:nvPicPr>
        <p:blipFill>
          <a:blip r:embed="rId2"/>
          <a:stretch>
            <a:fillRect/>
          </a:stretch>
        </p:blipFill>
        <p:spPr>
          <a:xfrm>
            <a:off x="3533483" y="1427761"/>
            <a:ext cx="8357425" cy="4629025"/>
          </a:xfrm>
          <a:prstGeom prst="rect">
            <a:avLst/>
          </a:prstGeom>
        </p:spPr>
      </p:pic>
    </p:spTree>
    <p:extLst>
      <p:ext uri="{BB962C8B-B14F-4D97-AF65-F5344CB8AC3E}">
        <p14:creationId xmlns:p14="http://schemas.microsoft.com/office/powerpoint/2010/main" val="965047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712EF-4100-7B0A-C9FD-C0AF41BACA24}"/>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F587A044-F03F-0C76-38FD-77CA32C9F045}"/>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October 2025</a:t>
            </a:r>
          </a:p>
        </p:txBody>
      </p:sp>
      <p:sp>
        <p:nvSpPr>
          <p:cNvPr id="5" name="AutoShape 2" descr="Image of power lines">
            <a:extLst>
              <a:ext uri="{FF2B5EF4-FFF2-40B4-BE49-F238E27FC236}">
                <a16:creationId xmlns:a16="http://schemas.microsoft.com/office/drawing/2014/main" id="{775D20B4-3118-EF20-5A14-897AD01AA86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AA22E788-4486-B132-8605-9A582DF48E42}"/>
              </a:ext>
            </a:extLst>
          </p:cNvPr>
          <p:cNvSpPr txBox="1">
            <a:spLocks/>
          </p:cNvSpPr>
          <p:nvPr/>
        </p:nvSpPr>
        <p:spPr>
          <a:xfrm>
            <a:off x="7261427" y="3581400"/>
            <a:ext cx="5025165" cy="78793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800" dirty="0"/>
              <a:t>Risk &amp; Stress Testing</a:t>
            </a:r>
          </a:p>
        </p:txBody>
      </p:sp>
      <p:sp>
        <p:nvSpPr>
          <p:cNvPr id="13" name="Text Placeholder 4">
            <a:extLst>
              <a:ext uri="{FF2B5EF4-FFF2-40B4-BE49-F238E27FC236}">
                <a16:creationId xmlns:a16="http://schemas.microsoft.com/office/drawing/2014/main" id="{22D20091-9750-D2C3-8CAA-596CBFB6C0C1}"/>
              </a:ext>
            </a:extLst>
          </p:cNvPr>
          <p:cNvSpPr txBox="1">
            <a:spLocks/>
          </p:cNvSpPr>
          <p:nvPr/>
        </p:nvSpPr>
        <p:spPr>
          <a:xfrm>
            <a:off x="7619994"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5</a:t>
            </a:r>
          </a:p>
        </p:txBody>
      </p:sp>
    </p:spTree>
    <p:extLst>
      <p:ext uri="{BB962C8B-B14F-4D97-AF65-F5344CB8AC3E}">
        <p14:creationId xmlns:p14="http://schemas.microsoft.com/office/powerpoint/2010/main" val="2417212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1DE23-E608-B7B2-19FC-9B58CC73F357}"/>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3D3D8D62-7DFC-305B-2103-2C88985B163C}"/>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879988EB-977A-C56A-4E88-4DAE9B632C1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AAC5F99-A630-90B2-CC6D-7F7CAEE37D70}"/>
              </a:ext>
            </a:extLst>
          </p:cNvPr>
          <p:cNvSpPr txBox="1"/>
          <p:nvPr/>
        </p:nvSpPr>
        <p:spPr>
          <a:xfrm>
            <a:off x="310805" y="131218"/>
            <a:ext cx="7629993" cy="584775"/>
          </a:xfrm>
          <a:prstGeom prst="rect">
            <a:avLst/>
          </a:prstGeom>
          <a:noFill/>
        </p:spPr>
        <p:txBody>
          <a:bodyPr wrap="square" rtlCol="0">
            <a:spAutoFit/>
          </a:bodyPr>
          <a:lstStyle/>
          <a:p>
            <a:r>
              <a:rPr lang="en-GB" sz="3200" b="1" dirty="0"/>
              <a:t>Decision Robustness</a:t>
            </a:r>
          </a:p>
        </p:txBody>
      </p:sp>
      <p:sp>
        <p:nvSpPr>
          <p:cNvPr id="6" name="TextBox 5">
            <a:extLst>
              <a:ext uri="{FF2B5EF4-FFF2-40B4-BE49-F238E27FC236}">
                <a16:creationId xmlns:a16="http://schemas.microsoft.com/office/drawing/2014/main" id="{51055934-17AF-36CC-8F89-92A041E617DD}"/>
              </a:ext>
            </a:extLst>
          </p:cNvPr>
          <p:cNvSpPr txBox="1"/>
          <p:nvPr/>
        </p:nvSpPr>
        <p:spPr>
          <a:xfrm>
            <a:off x="447471" y="4028701"/>
            <a:ext cx="8083685"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Decision flips under spread collapse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Demonstrates sensitivity to freight/carbon shocks</a:t>
            </a:r>
          </a:p>
          <a:p>
            <a:endParaRPr lang="en-US" sz="2400" dirty="0"/>
          </a:p>
        </p:txBody>
      </p:sp>
      <p:pic>
        <p:nvPicPr>
          <p:cNvPr id="7" name="Picture 6">
            <a:extLst>
              <a:ext uri="{FF2B5EF4-FFF2-40B4-BE49-F238E27FC236}">
                <a16:creationId xmlns:a16="http://schemas.microsoft.com/office/drawing/2014/main" id="{2F821634-2F3F-E4CF-BE41-60632F19198C}"/>
              </a:ext>
            </a:extLst>
          </p:cNvPr>
          <p:cNvPicPr>
            <a:picLocks noChangeAspect="1"/>
          </p:cNvPicPr>
          <p:nvPr/>
        </p:nvPicPr>
        <p:blipFill>
          <a:blip r:embed="rId3"/>
          <a:srcRect l="50530" t="15083" r="714" b="65688"/>
          <a:stretch>
            <a:fillRect/>
          </a:stretch>
        </p:blipFill>
        <p:spPr>
          <a:xfrm>
            <a:off x="445056" y="1163294"/>
            <a:ext cx="11387806" cy="2487680"/>
          </a:xfrm>
          <a:prstGeom prst="rect">
            <a:avLst/>
          </a:prstGeom>
        </p:spPr>
      </p:pic>
    </p:spTree>
    <p:extLst>
      <p:ext uri="{BB962C8B-B14F-4D97-AF65-F5344CB8AC3E}">
        <p14:creationId xmlns:p14="http://schemas.microsoft.com/office/powerpoint/2010/main" val="3125794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03D6D-7FD2-F927-5DEF-9227438C252D}"/>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35BC56DB-1602-8490-2420-4F1A5EF095F2}"/>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October 2025</a:t>
            </a:r>
          </a:p>
        </p:txBody>
      </p:sp>
      <p:sp>
        <p:nvSpPr>
          <p:cNvPr id="5" name="AutoShape 2" descr="Image of power lines">
            <a:extLst>
              <a:ext uri="{FF2B5EF4-FFF2-40B4-BE49-F238E27FC236}">
                <a16:creationId xmlns:a16="http://schemas.microsoft.com/office/drawing/2014/main" id="{E0512678-C019-5A73-0DA0-1B3DA76902D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E3B73245-300E-005A-5C75-6DA656ED1A7B}"/>
              </a:ext>
            </a:extLst>
          </p:cNvPr>
          <p:cNvSpPr txBox="1">
            <a:spLocks/>
          </p:cNvSpPr>
          <p:nvPr/>
        </p:nvSpPr>
        <p:spPr>
          <a:xfrm>
            <a:off x="7619994" y="3825630"/>
            <a:ext cx="4097867" cy="78793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200" dirty="0"/>
              <a:t>Rule Behaviour (Historical Validation)</a:t>
            </a:r>
          </a:p>
        </p:txBody>
      </p:sp>
      <p:sp>
        <p:nvSpPr>
          <p:cNvPr id="13" name="Text Placeholder 4">
            <a:extLst>
              <a:ext uri="{FF2B5EF4-FFF2-40B4-BE49-F238E27FC236}">
                <a16:creationId xmlns:a16="http://schemas.microsoft.com/office/drawing/2014/main" id="{A3B24C59-D75E-DE68-233F-0144647A60B9}"/>
              </a:ext>
            </a:extLst>
          </p:cNvPr>
          <p:cNvSpPr txBox="1">
            <a:spLocks/>
          </p:cNvSpPr>
          <p:nvPr/>
        </p:nvSpPr>
        <p:spPr>
          <a:xfrm>
            <a:off x="7619994"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6</a:t>
            </a:r>
          </a:p>
        </p:txBody>
      </p:sp>
    </p:spTree>
    <p:extLst>
      <p:ext uri="{BB962C8B-B14F-4D97-AF65-F5344CB8AC3E}">
        <p14:creationId xmlns:p14="http://schemas.microsoft.com/office/powerpoint/2010/main" val="3077908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67855-A2E9-7A23-FA47-5610BB76DBDA}"/>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C985E492-87D5-E27B-1B0A-8A0A4DAAD84C}"/>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1AEAD86E-2A7A-209E-2C79-00355E5C92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67A66804-6D66-E73A-6804-5C6B85A8658C}"/>
              </a:ext>
            </a:extLst>
          </p:cNvPr>
          <p:cNvSpPr txBox="1"/>
          <p:nvPr/>
        </p:nvSpPr>
        <p:spPr>
          <a:xfrm>
            <a:off x="310805" y="131218"/>
            <a:ext cx="7629993" cy="584775"/>
          </a:xfrm>
          <a:prstGeom prst="rect">
            <a:avLst/>
          </a:prstGeom>
          <a:noFill/>
        </p:spPr>
        <p:txBody>
          <a:bodyPr wrap="square" rtlCol="0">
            <a:spAutoFit/>
          </a:bodyPr>
          <a:lstStyle/>
          <a:p>
            <a:r>
              <a:rPr lang="en-GB" sz="3200" b="1" dirty="0"/>
              <a:t>Rule Behaviour Over Time</a:t>
            </a:r>
          </a:p>
        </p:txBody>
      </p:sp>
      <p:sp>
        <p:nvSpPr>
          <p:cNvPr id="6" name="TextBox 5">
            <a:extLst>
              <a:ext uri="{FF2B5EF4-FFF2-40B4-BE49-F238E27FC236}">
                <a16:creationId xmlns:a16="http://schemas.microsoft.com/office/drawing/2014/main" id="{8D6263F7-3463-24EB-3A65-036FEBC3D8E1}"/>
              </a:ext>
            </a:extLst>
          </p:cNvPr>
          <p:cNvSpPr txBox="1"/>
          <p:nvPr/>
        </p:nvSpPr>
        <p:spPr>
          <a:xfrm>
            <a:off x="2206557" y="5832946"/>
            <a:ext cx="8083685" cy="584775"/>
          </a:xfrm>
          <a:prstGeom prst="rect">
            <a:avLst/>
          </a:prstGeom>
          <a:noFill/>
        </p:spPr>
        <p:txBody>
          <a:bodyPr wrap="square" rtlCol="0">
            <a:spAutoFit/>
          </a:bodyPr>
          <a:lstStyle/>
          <a:p>
            <a:pPr algn="ctr"/>
            <a:r>
              <a:rPr lang="en-US" sz="1600" i="1" dirty="0"/>
              <a:t>Disclaimer: Historical simulation indicates diversion conditions frequently </a:t>
            </a:r>
            <a:br>
              <a:rPr lang="en-US" sz="1600" i="1" dirty="0"/>
            </a:br>
            <a:r>
              <a:rPr lang="en-US" sz="1600" i="1" dirty="0"/>
              <a:t>satisfied under proxy spread dynamics</a:t>
            </a:r>
          </a:p>
        </p:txBody>
      </p:sp>
      <p:pic>
        <p:nvPicPr>
          <p:cNvPr id="8" name="Picture 7">
            <a:extLst>
              <a:ext uri="{FF2B5EF4-FFF2-40B4-BE49-F238E27FC236}">
                <a16:creationId xmlns:a16="http://schemas.microsoft.com/office/drawing/2014/main" id="{E22E2520-F9D0-7323-3866-EA06B4DFB915}"/>
              </a:ext>
            </a:extLst>
          </p:cNvPr>
          <p:cNvPicPr>
            <a:picLocks noChangeAspect="1"/>
          </p:cNvPicPr>
          <p:nvPr/>
        </p:nvPicPr>
        <p:blipFill rotWithShape="1">
          <a:blip r:embed="rId3"/>
          <a:srcRect l="49825" t="37536" r="567" b="5289"/>
          <a:stretch>
            <a:fillRect/>
          </a:stretch>
        </p:blipFill>
        <p:spPr>
          <a:xfrm>
            <a:off x="2375201" y="1003002"/>
            <a:ext cx="7441597" cy="4750391"/>
          </a:xfrm>
          <a:prstGeom prst="rect">
            <a:avLst/>
          </a:prstGeom>
        </p:spPr>
      </p:pic>
    </p:spTree>
    <p:extLst>
      <p:ext uri="{BB962C8B-B14F-4D97-AF65-F5344CB8AC3E}">
        <p14:creationId xmlns:p14="http://schemas.microsoft.com/office/powerpoint/2010/main" val="3560822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BFBAB-140D-3E4B-A008-9B931DD6F619}"/>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B5117163-2AF7-C22F-DA28-BB75FB16759A}"/>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October 2025</a:t>
            </a:r>
          </a:p>
        </p:txBody>
      </p:sp>
      <p:sp>
        <p:nvSpPr>
          <p:cNvPr id="5" name="AutoShape 2" descr="Image of power lines">
            <a:extLst>
              <a:ext uri="{FF2B5EF4-FFF2-40B4-BE49-F238E27FC236}">
                <a16:creationId xmlns:a16="http://schemas.microsoft.com/office/drawing/2014/main" id="{6C654744-A3FE-3A68-57B9-3924F8A400D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91176BB4-B156-7B32-8512-8AA2B32E467A}"/>
              </a:ext>
            </a:extLst>
          </p:cNvPr>
          <p:cNvSpPr txBox="1">
            <a:spLocks/>
          </p:cNvSpPr>
          <p:nvPr/>
        </p:nvSpPr>
        <p:spPr>
          <a:xfrm>
            <a:off x="7009967" y="3431663"/>
            <a:ext cx="5182033" cy="78793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800" dirty="0"/>
              <a:t>Decision Waterfall</a:t>
            </a:r>
          </a:p>
        </p:txBody>
      </p:sp>
      <p:sp>
        <p:nvSpPr>
          <p:cNvPr id="13" name="Text Placeholder 4">
            <a:extLst>
              <a:ext uri="{FF2B5EF4-FFF2-40B4-BE49-F238E27FC236}">
                <a16:creationId xmlns:a16="http://schemas.microsoft.com/office/drawing/2014/main" id="{3D3B58DF-412C-3123-27AB-101223EE7182}"/>
              </a:ext>
            </a:extLst>
          </p:cNvPr>
          <p:cNvSpPr txBox="1">
            <a:spLocks/>
          </p:cNvSpPr>
          <p:nvPr/>
        </p:nvSpPr>
        <p:spPr>
          <a:xfrm>
            <a:off x="7619994"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7</a:t>
            </a:r>
          </a:p>
        </p:txBody>
      </p:sp>
    </p:spTree>
    <p:extLst>
      <p:ext uri="{BB962C8B-B14F-4D97-AF65-F5344CB8AC3E}">
        <p14:creationId xmlns:p14="http://schemas.microsoft.com/office/powerpoint/2010/main" val="1958920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1CE9-A9A1-050D-279C-0E56D1BB9F22}"/>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831FF1AB-799A-C1A8-DBC0-6655E8A3252F}"/>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FE27DBE2-00E3-2339-2C3C-CF06A4A2439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5697B6FC-2E43-1F9A-8452-F6CB4E667852}"/>
              </a:ext>
            </a:extLst>
          </p:cNvPr>
          <p:cNvSpPr txBox="1"/>
          <p:nvPr/>
        </p:nvSpPr>
        <p:spPr>
          <a:xfrm>
            <a:off x="310805" y="131218"/>
            <a:ext cx="9772995" cy="584775"/>
          </a:xfrm>
          <a:prstGeom prst="rect">
            <a:avLst/>
          </a:prstGeom>
          <a:noFill/>
        </p:spPr>
        <p:txBody>
          <a:bodyPr wrap="square" rtlCol="0">
            <a:spAutoFit/>
          </a:bodyPr>
          <a:lstStyle/>
          <a:p>
            <a:r>
              <a:rPr lang="en-GB" sz="3200" b="1" dirty="0"/>
              <a:t>From Raw Spread to Executable Diversion Decision</a:t>
            </a:r>
          </a:p>
        </p:txBody>
      </p:sp>
      <p:pic>
        <p:nvPicPr>
          <p:cNvPr id="2" name="Picture 1">
            <a:extLst>
              <a:ext uri="{FF2B5EF4-FFF2-40B4-BE49-F238E27FC236}">
                <a16:creationId xmlns:a16="http://schemas.microsoft.com/office/drawing/2014/main" id="{7B47210F-44B3-6146-191C-3AB734B0DA35}"/>
              </a:ext>
            </a:extLst>
          </p:cNvPr>
          <p:cNvPicPr>
            <a:picLocks noChangeAspect="1"/>
          </p:cNvPicPr>
          <p:nvPr/>
        </p:nvPicPr>
        <p:blipFill>
          <a:blip r:embed="rId3"/>
          <a:stretch>
            <a:fillRect/>
          </a:stretch>
        </p:blipFill>
        <p:spPr>
          <a:xfrm>
            <a:off x="2520397" y="1182523"/>
            <a:ext cx="6846405" cy="4492953"/>
          </a:xfrm>
          <a:prstGeom prst="rect">
            <a:avLst/>
          </a:prstGeom>
        </p:spPr>
      </p:pic>
    </p:spTree>
    <p:extLst>
      <p:ext uri="{BB962C8B-B14F-4D97-AF65-F5344CB8AC3E}">
        <p14:creationId xmlns:p14="http://schemas.microsoft.com/office/powerpoint/2010/main" val="1956896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90DE8-7EDE-FDD3-5662-24A771827724}"/>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121043D9-0872-6580-B0DD-FF9637EBD0EC}"/>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October 2025</a:t>
            </a:r>
          </a:p>
        </p:txBody>
      </p:sp>
      <p:sp>
        <p:nvSpPr>
          <p:cNvPr id="5" name="AutoShape 2" descr="Image of power lines">
            <a:extLst>
              <a:ext uri="{FF2B5EF4-FFF2-40B4-BE49-F238E27FC236}">
                <a16:creationId xmlns:a16="http://schemas.microsoft.com/office/drawing/2014/main" id="{32690D4D-61BB-27AE-5A8A-FEB15D1EA3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25">
            <a:extLst>
              <a:ext uri="{FF2B5EF4-FFF2-40B4-BE49-F238E27FC236}">
                <a16:creationId xmlns:a16="http://schemas.microsoft.com/office/drawing/2014/main" id="{20415E79-3701-0506-8F54-45414AB094F1}"/>
              </a:ext>
            </a:extLst>
          </p:cNvPr>
          <p:cNvSpPr txBox="1">
            <a:spLocks/>
          </p:cNvSpPr>
          <p:nvPr/>
        </p:nvSpPr>
        <p:spPr>
          <a:xfrm>
            <a:off x="7619994" y="3825630"/>
            <a:ext cx="4230627" cy="78793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600" dirty="0"/>
              <a:t>Assumptions &amp; Next Steps</a:t>
            </a:r>
          </a:p>
        </p:txBody>
      </p:sp>
      <p:sp>
        <p:nvSpPr>
          <p:cNvPr id="13" name="Text Placeholder 4">
            <a:extLst>
              <a:ext uri="{FF2B5EF4-FFF2-40B4-BE49-F238E27FC236}">
                <a16:creationId xmlns:a16="http://schemas.microsoft.com/office/drawing/2014/main" id="{0B52FAEF-11F2-FC07-0C96-04E2B7FE2AAC}"/>
              </a:ext>
            </a:extLst>
          </p:cNvPr>
          <p:cNvSpPr txBox="1">
            <a:spLocks/>
          </p:cNvSpPr>
          <p:nvPr/>
        </p:nvSpPr>
        <p:spPr>
          <a:xfrm>
            <a:off x="7619994" y="1908483"/>
            <a:ext cx="3421817" cy="1123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3800" b="1" dirty="0"/>
              <a:t>8</a:t>
            </a:r>
          </a:p>
        </p:txBody>
      </p:sp>
    </p:spTree>
    <p:extLst>
      <p:ext uri="{BB962C8B-B14F-4D97-AF65-F5344CB8AC3E}">
        <p14:creationId xmlns:p14="http://schemas.microsoft.com/office/powerpoint/2010/main" val="2125944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E64F4-6B63-9233-9161-4E0547806195}"/>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B61FD990-424A-D340-DCEB-4756612BCB91}"/>
              </a:ext>
            </a:extLst>
          </p:cNvPr>
          <p:cNvSpPr txBox="1">
            <a:spLocks/>
          </p:cNvSpPr>
          <p:nvPr/>
        </p:nvSpPr>
        <p:spPr>
          <a:xfrm>
            <a:off x="-3048000" y="649727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Author: Lyndon Odia | March 2026</a:t>
            </a:r>
          </a:p>
        </p:txBody>
      </p:sp>
      <p:sp>
        <p:nvSpPr>
          <p:cNvPr id="5" name="AutoShape 2" descr="Image of power lines">
            <a:extLst>
              <a:ext uri="{FF2B5EF4-FFF2-40B4-BE49-F238E27FC236}">
                <a16:creationId xmlns:a16="http://schemas.microsoft.com/office/drawing/2014/main" id="{441C5A24-FEFE-CF33-419F-97C08B24A00F}"/>
              </a:ext>
            </a:extLst>
          </p:cNvPr>
          <p:cNvSpPr>
            <a:spLocks noChangeAspect="1" noChangeArrowheads="1"/>
          </p:cNvSpPr>
          <p:nvPr/>
        </p:nvSpPr>
        <p:spPr bwMode="auto">
          <a:xfrm>
            <a:off x="7623650" y="34654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6BC97700-BC5C-8B33-F566-800842CA1159}"/>
              </a:ext>
            </a:extLst>
          </p:cNvPr>
          <p:cNvSpPr txBox="1"/>
          <p:nvPr/>
        </p:nvSpPr>
        <p:spPr>
          <a:xfrm>
            <a:off x="478971" y="442079"/>
            <a:ext cx="8834362" cy="584775"/>
          </a:xfrm>
          <a:prstGeom prst="rect">
            <a:avLst/>
          </a:prstGeom>
          <a:noFill/>
        </p:spPr>
        <p:txBody>
          <a:bodyPr wrap="square" rtlCol="0">
            <a:spAutoFit/>
          </a:bodyPr>
          <a:lstStyle/>
          <a:p>
            <a:r>
              <a:rPr lang="en-GB" sz="3200" b="1" dirty="0"/>
              <a:t>Model Limitations and Future Enhancements</a:t>
            </a:r>
          </a:p>
        </p:txBody>
      </p:sp>
      <p:sp>
        <p:nvSpPr>
          <p:cNvPr id="3" name="AutoShape 2" descr="Image of power lines">
            <a:extLst>
              <a:ext uri="{FF2B5EF4-FFF2-40B4-BE49-F238E27FC236}">
                <a16:creationId xmlns:a16="http://schemas.microsoft.com/office/drawing/2014/main" id="{3BAC3B01-46F9-ED91-DBD6-5EE69199D6D1}"/>
              </a:ext>
            </a:extLst>
          </p:cNvPr>
          <p:cNvSpPr>
            <a:spLocks noChangeAspect="1" noChangeArrowheads="1"/>
          </p:cNvSpPr>
          <p:nvPr/>
        </p:nvSpPr>
        <p:spPr bwMode="auto">
          <a:xfrm>
            <a:off x="7623650" y="34654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5">
            <a:extLst>
              <a:ext uri="{FF2B5EF4-FFF2-40B4-BE49-F238E27FC236}">
                <a16:creationId xmlns:a16="http://schemas.microsoft.com/office/drawing/2014/main" id="{F71B244C-69F6-9D9D-2397-782645A17028}"/>
              </a:ext>
            </a:extLst>
          </p:cNvPr>
          <p:cNvGraphicFramePr>
            <a:graphicFrameLocks noGrp="1"/>
          </p:cNvGraphicFramePr>
          <p:nvPr>
            <p:extLst>
              <p:ext uri="{D42A27DB-BD31-4B8C-83A1-F6EECF244321}">
                <p14:modId xmlns:p14="http://schemas.microsoft.com/office/powerpoint/2010/main" val="2620181253"/>
              </p:ext>
            </p:extLst>
          </p:nvPr>
        </p:nvGraphicFramePr>
        <p:xfrm>
          <a:off x="3204050" y="1936810"/>
          <a:ext cx="5850498" cy="3825895"/>
        </p:xfrm>
        <a:graphic>
          <a:graphicData uri="http://schemas.openxmlformats.org/drawingml/2006/table">
            <a:tbl>
              <a:tblPr>
                <a:tableStyleId>{7DF18680-E054-41AD-8BC1-D1AEF772440D}</a:tableStyleId>
              </a:tblPr>
              <a:tblGrid>
                <a:gridCol w="2968104">
                  <a:extLst>
                    <a:ext uri="{9D8B030D-6E8A-4147-A177-3AD203B41FA5}">
                      <a16:colId xmlns:a16="http://schemas.microsoft.com/office/drawing/2014/main" val="2641549852"/>
                    </a:ext>
                  </a:extLst>
                </a:gridCol>
                <a:gridCol w="2882394">
                  <a:extLst>
                    <a:ext uri="{9D8B030D-6E8A-4147-A177-3AD203B41FA5}">
                      <a16:colId xmlns:a16="http://schemas.microsoft.com/office/drawing/2014/main" val="2787746830"/>
                    </a:ext>
                  </a:extLst>
                </a:gridCol>
              </a:tblGrid>
              <a:tr h="765179">
                <a:tc>
                  <a:txBody>
                    <a:bodyPr/>
                    <a:lstStyle/>
                    <a:p>
                      <a:pPr algn="ctr" fontAlgn="base">
                        <a:lnSpc>
                          <a:spcPts val="1350"/>
                        </a:lnSpc>
                        <a:buNone/>
                      </a:pPr>
                      <a:r>
                        <a:rPr lang="en-US" sz="1600" b="0" dirty="0">
                          <a:solidFill>
                            <a:schemeClr val="tx1"/>
                          </a:solidFill>
                          <a:effectLst/>
                          <a:latin typeface="Aptos" panose="020B0004020202020204" pitchFamily="34" charset="0"/>
                        </a:rPr>
                        <a:t>JKM Proxy</a:t>
                      </a:r>
                      <a:endParaRPr lang="en-US" sz="1600" b="0" i="0" dirty="0">
                        <a:solidFill>
                          <a:schemeClr val="tx1"/>
                        </a:solidFill>
                        <a:effectLst/>
                        <a:latin typeface="Aptos" panose="020B0004020202020204" pitchFamily="34" charset="0"/>
                      </a:endParaRPr>
                    </a:p>
                  </a:txBody>
                  <a:tcPr anchor="ctr"/>
                </a:tc>
                <a:tc>
                  <a:txBody>
                    <a:bodyPr/>
                    <a:lstStyle/>
                    <a:p>
                      <a:pPr algn="ctr" fontAlgn="base">
                        <a:lnSpc>
                          <a:spcPts val="1350"/>
                        </a:lnSpc>
                        <a:buNone/>
                      </a:pPr>
                      <a:r>
                        <a:rPr lang="en-US" sz="1600" b="0" dirty="0">
                          <a:solidFill>
                            <a:schemeClr val="tx1"/>
                          </a:solidFill>
                          <a:effectLst/>
                          <a:latin typeface="Aptos" panose="020B0004020202020204" pitchFamily="34" charset="0"/>
                        </a:rPr>
                        <a:t>Licensed JKM feed</a:t>
                      </a:r>
                      <a:endParaRPr lang="en-US" sz="1600" b="0" i="0" dirty="0">
                        <a:solidFill>
                          <a:schemeClr val="tx1"/>
                        </a:solidFill>
                        <a:effectLst/>
                        <a:latin typeface="Aptos" panose="020B0004020202020204" pitchFamily="34" charset="0"/>
                      </a:endParaRPr>
                    </a:p>
                  </a:txBody>
                  <a:tcPr anchor="ctr"/>
                </a:tc>
                <a:extLst>
                  <a:ext uri="{0D108BD9-81ED-4DB2-BD59-A6C34878D82A}">
                    <a16:rowId xmlns:a16="http://schemas.microsoft.com/office/drawing/2014/main" val="579787313"/>
                  </a:ext>
                </a:extLst>
              </a:tr>
              <a:tr h="765179">
                <a:tc>
                  <a:txBody>
                    <a:bodyPr/>
                    <a:lstStyle/>
                    <a:p>
                      <a:pPr algn="ctr" fontAlgn="base">
                        <a:lnSpc>
                          <a:spcPts val="1350"/>
                        </a:lnSpc>
                        <a:buNone/>
                      </a:pPr>
                      <a:r>
                        <a:rPr lang="en-US" sz="1600" b="0" i="0" dirty="0">
                          <a:solidFill>
                            <a:schemeClr val="tx1"/>
                          </a:solidFill>
                          <a:effectLst/>
                          <a:latin typeface="Aptos" panose="020B0004020202020204" pitchFamily="34" charset="0"/>
                        </a:rPr>
                        <a:t>Freight Proxy</a:t>
                      </a:r>
                    </a:p>
                  </a:txBody>
                  <a:tcPr anchor="ctr"/>
                </a:tc>
                <a:tc>
                  <a:txBody>
                    <a:bodyPr/>
                    <a:lstStyle/>
                    <a:p>
                      <a:pPr marL="0" marR="0" lvl="0" indent="0" algn="ctr" defTabSz="914400" rtl="0" eaLnBrk="1" fontAlgn="base" latinLnBrk="0" hangingPunct="1">
                        <a:lnSpc>
                          <a:spcPts val="1350"/>
                        </a:lnSpc>
                        <a:spcBef>
                          <a:spcPts val="0"/>
                        </a:spcBef>
                        <a:spcAft>
                          <a:spcPts val="0"/>
                        </a:spcAft>
                        <a:buClrTx/>
                        <a:buSzTx/>
                        <a:buFontTx/>
                        <a:buNone/>
                        <a:tabLst/>
                        <a:defRPr/>
                      </a:pPr>
                      <a:r>
                        <a:rPr lang="en-US" sz="1600" b="0" dirty="0">
                          <a:solidFill>
                            <a:schemeClr val="tx1"/>
                          </a:solidFill>
                          <a:effectLst/>
                          <a:latin typeface="Aptos" panose="020B0004020202020204" pitchFamily="34" charset="0"/>
                        </a:rPr>
                        <a:t>Freight curve integration</a:t>
                      </a:r>
                    </a:p>
                    <a:p>
                      <a:pPr algn="ctr" fontAlgn="base">
                        <a:lnSpc>
                          <a:spcPts val="1350"/>
                        </a:lnSpc>
                        <a:buNone/>
                      </a:pPr>
                      <a:endParaRPr lang="en-US" sz="1600" b="0" i="0" dirty="0">
                        <a:solidFill>
                          <a:schemeClr val="tx1"/>
                        </a:solidFill>
                        <a:effectLst/>
                        <a:latin typeface="Aptos" panose="020B0004020202020204" pitchFamily="34" charset="0"/>
                      </a:endParaRPr>
                    </a:p>
                  </a:txBody>
                  <a:tcPr anchor="ctr"/>
                </a:tc>
                <a:extLst>
                  <a:ext uri="{0D108BD9-81ED-4DB2-BD59-A6C34878D82A}">
                    <a16:rowId xmlns:a16="http://schemas.microsoft.com/office/drawing/2014/main" val="3237386274"/>
                  </a:ext>
                </a:extLst>
              </a:tr>
              <a:tr h="765179">
                <a:tc>
                  <a:txBody>
                    <a:bodyPr/>
                    <a:lstStyle/>
                    <a:p>
                      <a:pPr algn="ctr" fontAlgn="base">
                        <a:lnSpc>
                          <a:spcPts val="1350"/>
                        </a:lnSpc>
                        <a:buNone/>
                      </a:pPr>
                      <a:r>
                        <a:rPr lang="en-US" sz="1600" b="0" dirty="0">
                          <a:solidFill>
                            <a:schemeClr val="tx1"/>
                          </a:solidFill>
                          <a:effectLst/>
                          <a:latin typeface="Aptos" panose="020B0004020202020204" pitchFamily="34" charset="0"/>
                        </a:rPr>
                        <a:t>Simplified Routing</a:t>
                      </a:r>
                      <a:endParaRPr lang="en-US" sz="1600" b="0" i="0" dirty="0">
                        <a:solidFill>
                          <a:schemeClr val="tx1"/>
                        </a:solidFill>
                        <a:effectLst/>
                        <a:latin typeface="Aptos" panose="020B0004020202020204" pitchFamily="34" charset="0"/>
                      </a:endParaRPr>
                    </a:p>
                  </a:txBody>
                  <a:tcPr anchor="ctr"/>
                </a:tc>
                <a:tc>
                  <a:txBody>
                    <a:bodyPr/>
                    <a:lstStyle/>
                    <a:p>
                      <a:pPr algn="ctr" fontAlgn="base">
                        <a:lnSpc>
                          <a:spcPts val="1350"/>
                        </a:lnSpc>
                        <a:buNone/>
                      </a:pPr>
                      <a:r>
                        <a:rPr lang="en-US" sz="1600" b="0" dirty="0">
                          <a:solidFill>
                            <a:schemeClr val="tx1"/>
                          </a:solidFill>
                          <a:effectLst/>
                          <a:latin typeface="Aptos" panose="020B0004020202020204" pitchFamily="34" charset="0"/>
                        </a:rPr>
                        <a:t>Stochastic ops delays</a:t>
                      </a:r>
                      <a:endParaRPr lang="en-US" sz="1600" b="0" i="0" dirty="0">
                        <a:solidFill>
                          <a:schemeClr val="tx1"/>
                        </a:solidFill>
                        <a:effectLst/>
                        <a:latin typeface="Aptos" panose="020B0004020202020204" pitchFamily="34" charset="0"/>
                      </a:endParaRPr>
                    </a:p>
                  </a:txBody>
                  <a:tcPr anchor="ctr"/>
                </a:tc>
                <a:extLst>
                  <a:ext uri="{0D108BD9-81ED-4DB2-BD59-A6C34878D82A}">
                    <a16:rowId xmlns:a16="http://schemas.microsoft.com/office/drawing/2014/main" val="4240212126"/>
                  </a:ext>
                </a:extLst>
              </a:tr>
              <a:tr h="765179">
                <a:tc>
                  <a:txBody>
                    <a:bodyPr/>
                    <a:lstStyle/>
                    <a:p>
                      <a:pPr algn="ctr" fontAlgn="base">
                        <a:lnSpc>
                          <a:spcPts val="1350"/>
                        </a:lnSpc>
                        <a:buNone/>
                      </a:pPr>
                      <a:r>
                        <a:rPr lang="en-US" sz="1600" b="0" i="0" dirty="0">
                          <a:solidFill>
                            <a:schemeClr val="tx1"/>
                          </a:solidFill>
                          <a:effectLst/>
                          <a:latin typeface="Aptos" panose="020B0004020202020204" pitchFamily="34" charset="0"/>
                        </a:rPr>
                        <a:t>No demurrage modelling</a:t>
                      </a:r>
                    </a:p>
                  </a:txBody>
                  <a:tcPr anchor="ctr"/>
                </a:tc>
                <a:tc>
                  <a:txBody>
                    <a:bodyPr/>
                    <a:lstStyle/>
                    <a:p>
                      <a:pPr algn="ctr" fontAlgn="base">
                        <a:lnSpc>
                          <a:spcPts val="1350"/>
                        </a:lnSpc>
                        <a:buNone/>
                      </a:pPr>
                      <a:r>
                        <a:rPr lang="en-US" sz="1600" b="0" dirty="0">
                          <a:solidFill>
                            <a:schemeClr val="tx1"/>
                          </a:solidFill>
                          <a:effectLst/>
                          <a:latin typeface="Aptos" panose="020B0004020202020204" pitchFamily="34" charset="0"/>
                        </a:rPr>
                        <a:t>Optionality modelling</a:t>
                      </a:r>
                      <a:endParaRPr lang="en-US" sz="1600" b="0" i="0" dirty="0">
                        <a:solidFill>
                          <a:schemeClr val="tx1"/>
                        </a:solidFill>
                        <a:effectLst/>
                        <a:latin typeface="Aptos" panose="020B0004020202020204" pitchFamily="34" charset="0"/>
                      </a:endParaRPr>
                    </a:p>
                  </a:txBody>
                  <a:tcPr anchor="ctr"/>
                </a:tc>
                <a:extLst>
                  <a:ext uri="{0D108BD9-81ED-4DB2-BD59-A6C34878D82A}">
                    <a16:rowId xmlns:a16="http://schemas.microsoft.com/office/drawing/2014/main" val="2434475554"/>
                  </a:ext>
                </a:extLst>
              </a:tr>
              <a:tr h="765179">
                <a:tc>
                  <a:txBody>
                    <a:bodyPr/>
                    <a:lstStyle/>
                    <a:p>
                      <a:pPr algn="ctr" fontAlgn="base">
                        <a:lnSpc>
                          <a:spcPts val="1350"/>
                        </a:lnSpc>
                        <a:buNone/>
                      </a:pPr>
                      <a:r>
                        <a:rPr lang="en-US" sz="1600" b="0" i="0" dirty="0">
                          <a:solidFill>
                            <a:schemeClr val="tx1"/>
                          </a:solidFill>
                          <a:effectLst/>
                          <a:latin typeface="Aptos" panose="020B0004020202020204" pitchFamily="34" charset="0"/>
                        </a:rPr>
                        <a:t>Contract structure (FOB vs DES) not modelled</a:t>
                      </a:r>
                    </a:p>
                  </a:txBody>
                  <a:tcPr anchor="ctr"/>
                </a:tc>
                <a:tc>
                  <a:txBody>
                    <a:bodyPr/>
                    <a:lstStyle/>
                    <a:p>
                      <a:pPr algn="ctr" fontAlgn="base">
                        <a:lnSpc>
                          <a:spcPts val="1350"/>
                        </a:lnSpc>
                        <a:buNone/>
                      </a:pPr>
                      <a:r>
                        <a:rPr lang="en-US" sz="1600" b="0" i="0" dirty="0">
                          <a:solidFill>
                            <a:schemeClr val="tx1"/>
                          </a:solidFill>
                          <a:effectLst/>
                          <a:latin typeface="Aptos" panose="020B0004020202020204" pitchFamily="34" charset="0"/>
                        </a:rPr>
                        <a:t>Contract Aware diversion logic</a:t>
                      </a:r>
                    </a:p>
                  </a:txBody>
                  <a:tcPr anchor="ctr"/>
                </a:tc>
                <a:extLst>
                  <a:ext uri="{0D108BD9-81ED-4DB2-BD59-A6C34878D82A}">
                    <a16:rowId xmlns:a16="http://schemas.microsoft.com/office/drawing/2014/main" val="2488007483"/>
                  </a:ext>
                </a:extLst>
              </a:tr>
            </a:tbl>
          </a:graphicData>
        </a:graphic>
      </p:graphicFrame>
      <p:sp>
        <p:nvSpPr>
          <p:cNvPr id="7" name="Arrow: Chevron 1">
            <a:extLst>
              <a:ext uri="{FF2B5EF4-FFF2-40B4-BE49-F238E27FC236}">
                <a16:creationId xmlns:a16="http://schemas.microsoft.com/office/drawing/2014/main" id="{86520AB9-4EE8-7872-8EDC-DB150D2A968A}"/>
              </a:ext>
            </a:extLst>
          </p:cNvPr>
          <p:cNvSpPr/>
          <p:nvPr/>
        </p:nvSpPr>
        <p:spPr>
          <a:xfrm>
            <a:off x="3316579" y="1179894"/>
            <a:ext cx="2940427" cy="689180"/>
          </a:xfrm>
          <a:prstGeom prst="chevron">
            <a:avLst>
              <a:gd name="adj" fmla="val 27852"/>
            </a:avLst>
          </a:prstGeom>
          <a:solidFill>
            <a:srgbClr val="6464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bg1"/>
                </a:solidFill>
              </a:rPr>
              <a:t>Limitations</a:t>
            </a:r>
          </a:p>
        </p:txBody>
      </p:sp>
      <p:sp>
        <p:nvSpPr>
          <p:cNvPr id="8" name="Arrow: Chevron 2">
            <a:extLst>
              <a:ext uri="{FF2B5EF4-FFF2-40B4-BE49-F238E27FC236}">
                <a16:creationId xmlns:a16="http://schemas.microsoft.com/office/drawing/2014/main" id="{BC896956-9CE1-0275-E909-4FC37CF4A30E}"/>
              </a:ext>
            </a:extLst>
          </p:cNvPr>
          <p:cNvSpPr/>
          <p:nvPr/>
        </p:nvSpPr>
        <p:spPr>
          <a:xfrm>
            <a:off x="6164923" y="1179894"/>
            <a:ext cx="2940427" cy="689180"/>
          </a:xfrm>
          <a:prstGeom prst="chevron">
            <a:avLst>
              <a:gd name="adj" fmla="val 27852"/>
            </a:avLst>
          </a:prstGeom>
          <a:solidFill>
            <a:srgbClr val="6464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bg1"/>
                </a:solidFill>
              </a:rPr>
              <a:t>Next Evolution</a:t>
            </a:r>
          </a:p>
        </p:txBody>
      </p:sp>
    </p:spTree>
    <p:extLst>
      <p:ext uri="{BB962C8B-B14F-4D97-AF65-F5344CB8AC3E}">
        <p14:creationId xmlns:p14="http://schemas.microsoft.com/office/powerpoint/2010/main" val="2359601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49536e-9021-4e8b-a813-eda5cb0caf1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otalTime>527</TotalTime>
  <Words>1772</Words>
  <Application>Microsoft Macintosh PowerPoint</Application>
  <PresentationFormat>Widescreen</PresentationFormat>
  <Paragraphs>145</Paragraphs>
  <Slides>21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-webkit-standard</vt:lpstr>
      <vt:lpstr>Aptos</vt:lpstr>
      <vt:lpstr>Aptos Display</vt:lpstr>
      <vt:lpstr>Arial</vt:lpstr>
      <vt:lpstr>Office Theme</vt:lpstr>
      <vt:lpstr>LNG Cargo Diversion Decision Engine</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Odia, Lyndon E SITILTD-PTIY/ED/NC</dc:creator>
  <cp:lastModifiedBy>Odia, Lyndon E SITILTD-PTIY/ED/NC</cp:lastModifiedBy>
  <cp:revision>25</cp:revision>
  <dcterms:created xsi:type="dcterms:W3CDTF">2025-10-14T17:55:20Z</dcterms:created>
  <dcterms:modified xsi:type="dcterms:W3CDTF">2026-03-07T21:52:11Z</dcterms:modified>
</cp:coreProperties>
</file>